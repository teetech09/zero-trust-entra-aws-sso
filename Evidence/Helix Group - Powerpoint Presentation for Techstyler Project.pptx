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56" r:id="rId2"/>
    <p:sldId id="261" r:id="rId3"/>
    <p:sldId id="263" r:id="rId4"/>
    <p:sldId id="258" r:id="rId5"/>
    <p:sldId id="264" r:id="rId6"/>
    <p:sldId id="266" r:id="rId7"/>
    <p:sldId id="271" r:id="rId8"/>
    <p:sldId id="267" r:id="rId9"/>
    <p:sldId id="265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3C5D"/>
    <a:srgbClr val="2F3E46"/>
    <a:srgbClr val="C68452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553" autoAdjust="0"/>
    <p:restoredTop sz="94660"/>
  </p:normalViewPr>
  <p:slideViewPr>
    <p:cSldViewPr snapToGrid="0">
      <p:cViewPr>
        <p:scale>
          <a:sx n="72" d="100"/>
          <a:sy n="72" d="100"/>
        </p:scale>
        <p:origin x="-100" y="1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FFAD4-FF88-4648-8567-9DB91E1278F8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B84E6A-DC87-4724-8033-B9B8A6322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25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B84E6A-DC87-4724-8033-B9B8A6322D8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553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B7C6DF3-FD4B-B96F-7C3F-C0C144B3D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33D7AC0-8515-E787-1F2F-AD78B08388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127A46C-6DF0-0A86-53CE-7C10B5D95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D2F1-BAA5-4081-923D-468C748AB32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0CB5FC7-371F-D840-64AD-64AE48430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41A4145-C365-9FB4-6027-D5FB60BA2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4A6D5-210D-4271-90AB-D05F1F11D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671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BFD079D-79F1-6C23-AECD-75748602A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33C40F6-D120-0E6C-1629-ECF1DBA3E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8609C5A-F528-F0A1-67AF-9BF3EE8A7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D2F1-BAA5-4081-923D-468C748AB32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CBB9AD0-8BBB-F903-1649-F0F86833D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9595733-8851-54BE-E088-3204A65EB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4A6D5-210D-4271-90AB-D05F1F11D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33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247EB08-A6C8-62D8-8F21-D580DA1D7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8641A3B-72CD-1297-917C-1488C7DD4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3DBB29C-2527-CA99-8ACA-98B481530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D2F1-BAA5-4081-923D-468C748AB32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D3C7968-8405-9D1D-25B7-E56121645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792B438-B2B7-1060-DFEB-260D1D82F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4A6D5-210D-4271-90AB-D05F1F11D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742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B4EEBA-1A94-8502-C7E5-950B2B763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DA6B273-BC6A-584B-42B2-A4F03AF880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A6D827C-6891-E5E7-4122-7B0A1E608A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A827BF7-4ED6-D28C-7B12-ABDE1827A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D2F1-BAA5-4081-923D-468C748AB32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0BFE4C6-3C51-F5EC-D416-76DBC1C04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AB163F3-2674-BC79-DADC-285E7AF44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4A6D5-210D-4271-90AB-D05F1F11D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076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77B437-DF7C-BCEE-0610-EB0354E9D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9E3621E-2665-96A4-76E2-D265E0931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52F123F-AC7F-E2ED-AF5C-B53AF5DF1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89B18A7-E036-DFCC-758A-275C1B040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CDD29511-A2F9-40C1-CA56-B85DC1F149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01D390DD-D06A-F561-4EB5-C4D419917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D2F1-BAA5-4081-923D-468C748AB32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2FE350F8-A77D-1E1D-E9AB-3FFD78851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0DB49B95-FF9A-4C3B-0D69-441C0592D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4A6D5-210D-4271-90AB-D05F1F11D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298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87420B-133B-8DD6-8E36-A196BCE7E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68F3146-A9FE-9B95-95B8-B5878D575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D2F1-BAA5-4081-923D-468C748AB32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5E3FD27-59DE-3854-72CE-0D143D98A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0090DE9-0EFC-C09C-8893-2001DF982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4A6D5-210D-4271-90AB-D05F1F11D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135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DE3C6FC-0D76-C3CD-C2E4-A3A5AAA42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D2F1-BAA5-4081-923D-468C748AB32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A4DE0066-BC6B-7E0C-54F2-754734150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F1E3EF0-F06C-83DF-456D-7D465A33A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4A6D5-210D-4271-90AB-D05F1F11D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44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43052A-1203-F617-AACB-C3347976C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04CB751-9E2C-1E05-9C4C-166912870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69C2B7E-105D-DFED-FA59-5DC278374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C6A83E4-939F-2438-3A13-4341D9F6B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D2F1-BAA5-4081-923D-468C748AB32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A09DE3C-1B7C-6EC4-5CF6-3090CA5C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1813BAA-AE4D-0C0C-2396-3888D8AA8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4A6D5-210D-4271-90AB-D05F1F11D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017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81C1F6-59C7-2582-65E4-816EFBDD3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D7502E7-65F5-0C8D-252B-02BE198343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B8E130A-4E3B-F48D-4DB6-CCEFDD6DF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81AEF70-9610-5879-8454-FF526DF3A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D2F1-BAA5-4081-923D-468C748AB32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B4A7F9B-BDC5-1851-031C-18988AD77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687FB99-030C-0C13-C5B3-B70EC36D9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4A6D5-210D-4271-90AB-D05F1F11D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26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80181EE-9EE6-14EA-2481-42628988F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36C03B2-1846-004B-98E8-F36B6BFF8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5D38374-7A03-729C-4836-DADCF28EF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D2F1-BAA5-4081-923D-468C748AB32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ADAFB83-0C73-CFED-7580-A0102872A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F5020C9-40F3-E9A3-DF6D-94D8F5778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4A6D5-210D-4271-90AB-D05F1F11D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71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FDE07CB1-0012-6AD9-6E51-3B240EE5C8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99B9699-2D40-FC42-1312-704A478E15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DCA5BE8-F8E7-9A5F-0E66-E4DBB33D8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D2F1-BAA5-4081-923D-468C748AB32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752024D-9C9A-D045-EF92-C15003E0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41C7DC9-A3E9-3D60-EA76-B4BB4B965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4A6D5-210D-4271-90AB-D05F1F11D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816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6EB01929-F2B5-6D0D-1BA8-E3CAB1F5E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95F010C-EFE6-9CE0-EE0F-6BDDB160C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FC0924F-2AB7-7DB7-B21D-CF7677BC2B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BD2F1-BAA5-4081-923D-468C748AB32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7AB7D56-EC33-9DC2-21F4-43A4E5594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F9AEFE4-9DED-5823-F523-045760A6C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4A6D5-210D-4271-90AB-D05F1F11D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26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idris.musa@roboboy.onlin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fola@roboboy.online" TargetMode="External"/><Relationship Id="rId4" Type="http://schemas.openxmlformats.org/officeDocument/2006/relationships/hyperlink" Target="mailto:david@roboboy.online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3.png"/><Relationship Id="rId7" Type="http://schemas.openxmlformats.org/officeDocument/2006/relationships/image" Target="../media/image6.jp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11" Type="http://schemas.openxmlformats.org/officeDocument/2006/relationships/image" Target="../media/image10.jpg"/><Relationship Id="rId5" Type="http://schemas.openxmlformats.org/officeDocument/2006/relationships/image" Target="../media/image5.png"/><Relationship Id="rId10" Type="http://schemas.openxmlformats.org/officeDocument/2006/relationships/image" Target="../media/image9.jpg"/><Relationship Id="rId4" Type="http://schemas.openxmlformats.org/officeDocument/2006/relationships/image" Target="../media/image4.jpeg"/><Relationship Id="rId9" Type="http://schemas.openxmlformats.org/officeDocument/2006/relationships/image" Target="../media/image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4D4A198-C9C2-F061-34ED-625ADD3D93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702" y="1115765"/>
            <a:ext cx="7054921" cy="470328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B74A6493-31D9-8EB5-240D-F5B0C5A3701C}"/>
              </a:ext>
            </a:extLst>
          </p:cNvPr>
          <p:cNvSpPr txBox="1"/>
          <p:nvPr/>
        </p:nvSpPr>
        <p:spPr>
          <a:xfrm>
            <a:off x="769969" y="1628365"/>
            <a:ext cx="920050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Helix Group – Final Security Project Presentation</a:t>
            </a:r>
            <a:endParaRPr lang="en-US" sz="4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6A9FFF2E-4350-A94D-6248-3B885C02E4AB}"/>
              </a:ext>
            </a:extLst>
          </p:cNvPr>
          <p:cNvSpPr txBox="1"/>
          <p:nvPr/>
        </p:nvSpPr>
        <p:spPr>
          <a:xfrm>
            <a:off x="968341" y="3467406"/>
            <a:ext cx="71199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Zero Trust SSO Integration for Oringo Ltd</a:t>
            </a:r>
            <a:endParaRPr lang="en-US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9153A9F9-BC28-C2D6-AFB7-7022D7772E33}"/>
              </a:ext>
            </a:extLst>
          </p:cNvPr>
          <p:cNvSpPr txBox="1"/>
          <p:nvPr/>
        </p:nvSpPr>
        <p:spPr>
          <a:xfrm>
            <a:off x="968341" y="4189893"/>
            <a:ext cx="71199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C68452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 June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68452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2025</a:t>
            </a:r>
            <a:endParaRPr lang="en-US" sz="1600" dirty="0">
              <a:solidFill>
                <a:srgbClr val="C68452"/>
              </a:solidFill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xmlns="" id="{714F1FFC-8F5A-1AE4-D997-63BD4A1D59F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76541" y="1256088"/>
            <a:ext cx="10366428" cy="470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972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27E8DABD-58D6-E52B-CDEF-860E5FDB8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>
            <a:extLst>
              <a:ext uri="{FF2B5EF4-FFF2-40B4-BE49-F238E27FC236}">
                <a16:creationId xmlns:a16="http://schemas.microsoft.com/office/drawing/2014/main" xmlns="" id="{F87C16A4-08B0-BCA8-DBCD-2F41C5E4141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079" y="0"/>
            <a:ext cx="7054921" cy="470328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xmlns="" id="{1D08FFBC-A57C-1996-5F81-5DB289C16E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2170471"/>
            <a:ext cx="7054921" cy="47032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27E58EC-E48C-4976-D803-F425035C8DFF}"/>
              </a:ext>
            </a:extLst>
          </p:cNvPr>
          <p:cNvSpPr txBox="1"/>
          <p:nvPr/>
        </p:nvSpPr>
        <p:spPr>
          <a:xfrm>
            <a:off x="972437" y="905067"/>
            <a:ext cx="43407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 dirty="0">
                <a:solidFill>
                  <a:srgbClr val="0B3C5D"/>
                </a:solidFill>
              </a:rPr>
              <a:t>PROJECT OVERVIEW</a:t>
            </a:r>
            <a:endParaRPr kumimoji="0" lang="en-US" altLang="en-US" sz="3600" b="1" i="0" u="none" strike="noStrike" cap="none" normalizeH="0" baseline="0" dirty="0">
              <a:ln>
                <a:noFill/>
              </a:ln>
              <a:solidFill>
                <a:srgbClr val="0B3C5D"/>
              </a:solidFill>
              <a:effectLst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5C63C80D-F36E-DE67-3160-21A993393615}"/>
              </a:ext>
            </a:extLst>
          </p:cNvPr>
          <p:cNvSpPr txBox="1"/>
          <p:nvPr/>
        </p:nvSpPr>
        <p:spPr>
          <a:xfrm>
            <a:off x="972437" y="1816102"/>
            <a:ext cx="309673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solidFill>
                  <a:srgbClr val="0B3C5D"/>
                </a:solidFill>
                <a:cs typeface="Segoe UI" panose="020B0502040204020203" pitchFamily="34" charset="0"/>
              </a:rPr>
              <a:t>THE CHALLENGE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xmlns="" id="{FFD4443C-19F6-C5CA-C6B8-95EB4CCF7916}"/>
              </a:ext>
            </a:extLst>
          </p:cNvPr>
          <p:cNvGrpSpPr/>
          <p:nvPr/>
        </p:nvGrpSpPr>
        <p:grpSpPr>
          <a:xfrm>
            <a:off x="972437" y="2335888"/>
            <a:ext cx="3096733" cy="989568"/>
            <a:chOff x="972437" y="2335888"/>
            <a:chExt cx="3096733" cy="989568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xmlns="" id="{7A07FE6B-A38D-AD48-65B2-64FC6747CCDA}"/>
                </a:ext>
              </a:extLst>
            </p:cNvPr>
            <p:cNvSpPr/>
            <p:nvPr/>
          </p:nvSpPr>
          <p:spPr>
            <a:xfrm>
              <a:off x="972437" y="2335888"/>
              <a:ext cx="3096732" cy="989568"/>
            </a:xfrm>
            <a:prstGeom prst="rect">
              <a:avLst/>
            </a:prstGeom>
            <a:solidFill>
              <a:srgbClr val="0B3C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FDA8F7EA-EE67-74A4-AFBA-7C176941E799}"/>
                </a:ext>
              </a:extLst>
            </p:cNvPr>
            <p:cNvSpPr txBox="1"/>
            <p:nvPr/>
          </p:nvSpPr>
          <p:spPr>
            <a:xfrm>
              <a:off x="972437" y="2394816"/>
              <a:ext cx="3096733" cy="8717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rgbClr val="F5F5F5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Oringo Ltd. needed secure access to AWS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xmlns="" id="{5B9E7F40-D102-6069-7954-31E5E8F5CA84}"/>
              </a:ext>
            </a:extLst>
          </p:cNvPr>
          <p:cNvGrpSpPr/>
          <p:nvPr/>
        </p:nvGrpSpPr>
        <p:grpSpPr>
          <a:xfrm>
            <a:off x="972437" y="3624876"/>
            <a:ext cx="3096732" cy="1287212"/>
            <a:chOff x="972437" y="3624876"/>
            <a:chExt cx="3096732" cy="1287212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xmlns="" id="{F8879C06-C87E-86FA-9E42-B399AAEDDB25}"/>
                </a:ext>
              </a:extLst>
            </p:cNvPr>
            <p:cNvSpPr/>
            <p:nvPr/>
          </p:nvSpPr>
          <p:spPr>
            <a:xfrm>
              <a:off x="972437" y="3624876"/>
              <a:ext cx="3096732" cy="1287212"/>
            </a:xfrm>
            <a:prstGeom prst="rect">
              <a:avLst/>
            </a:prstGeom>
            <a:solidFill>
              <a:srgbClr val="0B3C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28FA04BA-D714-81E1-ED87-BDFA311F8ED0}"/>
                </a:ext>
              </a:extLst>
            </p:cNvPr>
            <p:cNvSpPr txBox="1"/>
            <p:nvPr/>
          </p:nvSpPr>
          <p:spPr>
            <a:xfrm>
              <a:off x="972438" y="3624876"/>
              <a:ext cx="3096731" cy="1287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dirty="0">
                  <a:solidFill>
                    <a:srgbClr val="F5F5F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They wanted to avoid creating AWS accounts for each user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5F5F5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783694E3-D295-B542-F6FB-93079A24D875}"/>
              </a:ext>
            </a:extLst>
          </p:cNvPr>
          <p:cNvSpPr txBox="1"/>
          <p:nvPr/>
        </p:nvSpPr>
        <p:spPr>
          <a:xfrm>
            <a:off x="4547634" y="1816102"/>
            <a:ext cx="309673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solidFill>
                  <a:srgbClr val="0B3C5D"/>
                </a:solidFill>
                <a:cs typeface="Segoe UI" panose="020B0502040204020203" pitchFamily="34" charset="0"/>
              </a:rPr>
              <a:t>OUR SOLUTION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xmlns="" id="{3BFEE3E6-846D-415A-3CB2-405DEEFEEAA4}"/>
              </a:ext>
            </a:extLst>
          </p:cNvPr>
          <p:cNvGrpSpPr/>
          <p:nvPr/>
        </p:nvGrpSpPr>
        <p:grpSpPr>
          <a:xfrm>
            <a:off x="4585117" y="2335888"/>
            <a:ext cx="3096732" cy="989568"/>
            <a:chOff x="4585117" y="2335888"/>
            <a:chExt cx="3096732" cy="989568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xmlns="" id="{79CB8C46-3E4A-F1CA-8CB3-E9495D5ADC3A}"/>
                </a:ext>
              </a:extLst>
            </p:cNvPr>
            <p:cNvSpPr/>
            <p:nvPr/>
          </p:nvSpPr>
          <p:spPr>
            <a:xfrm>
              <a:off x="4585117" y="2335888"/>
              <a:ext cx="3096732" cy="989568"/>
            </a:xfrm>
            <a:prstGeom prst="rect">
              <a:avLst/>
            </a:prstGeom>
            <a:solidFill>
              <a:srgbClr val="0B3C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0FEDB2F0-902C-F8AE-9792-E8D4EC9B685B}"/>
                </a:ext>
              </a:extLst>
            </p:cNvPr>
            <p:cNvSpPr txBox="1"/>
            <p:nvPr/>
          </p:nvSpPr>
          <p:spPr>
            <a:xfrm>
              <a:off x="4585117" y="2394816"/>
              <a:ext cx="3096732" cy="8717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dirty="0">
                  <a:solidFill>
                    <a:srgbClr val="F5F5F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Integrated Microsoft Entra ID with AWS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xmlns="" id="{84E03D2F-FB52-0161-EFF6-4F24EB5A0DC4}"/>
              </a:ext>
            </a:extLst>
          </p:cNvPr>
          <p:cNvGrpSpPr/>
          <p:nvPr/>
        </p:nvGrpSpPr>
        <p:grpSpPr>
          <a:xfrm>
            <a:off x="4547634" y="3624876"/>
            <a:ext cx="3096733" cy="1287212"/>
            <a:chOff x="4547634" y="3624876"/>
            <a:chExt cx="3096733" cy="1287212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xmlns="" id="{339E30C3-A2D4-95D4-D1BA-04CA88884BD2}"/>
                </a:ext>
              </a:extLst>
            </p:cNvPr>
            <p:cNvSpPr/>
            <p:nvPr/>
          </p:nvSpPr>
          <p:spPr>
            <a:xfrm>
              <a:off x="4547634" y="3624876"/>
              <a:ext cx="3096732" cy="1287212"/>
            </a:xfrm>
            <a:prstGeom prst="rect">
              <a:avLst/>
            </a:prstGeom>
            <a:solidFill>
              <a:srgbClr val="0B3C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xmlns="" id="{D8A44BC8-4958-F001-1352-D233EE0E3ADB}"/>
                </a:ext>
              </a:extLst>
            </p:cNvPr>
            <p:cNvSpPr txBox="1"/>
            <p:nvPr/>
          </p:nvSpPr>
          <p:spPr>
            <a:xfrm>
              <a:off x="4547635" y="3832626"/>
              <a:ext cx="3096732" cy="8717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dirty="0">
                  <a:solidFill>
                    <a:srgbClr val="F5F5F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Used SAML-based SSO for identity federation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5F5F5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86B46A26-B975-34C4-3901-B162AE4EF033}"/>
              </a:ext>
            </a:extLst>
          </p:cNvPr>
          <p:cNvSpPr txBox="1"/>
          <p:nvPr/>
        </p:nvSpPr>
        <p:spPr>
          <a:xfrm>
            <a:off x="8122831" y="1816102"/>
            <a:ext cx="309673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0B3C5D"/>
                </a:solidFill>
                <a:effectLst/>
              </a:rPr>
              <a:t>SECURITY STRATEGY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xmlns="" id="{6BBE709F-ECD0-5D37-D9D2-1417DE7CC4B2}"/>
              </a:ext>
            </a:extLst>
          </p:cNvPr>
          <p:cNvGrpSpPr/>
          <p:nvPr/>
        </p:nvGrpSpPr>
        <p:grpSpPr>
          <a:xfrm>
            <a:off x="8122831" y="2335888"/>
            <a:ext cx="3096732" cy="989568"/>
            <a:chOff x="8122831" y="2335888"/>
            <a:chExt cx="3096732" cy="989568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xmlns="" id="{D5CD0F6B-B85B-0AB4-A258-034E42C14F49}"/>
                </a:ext>
              </a:extLst>
            </p:cNvPr>
            <p:cNvSpPr/>
            <p:nvPr/>
          </p:nvSpPr>
          <p:spPr>
            <a:xfrm>
              <a:off x="8122831" y="2335888"/>
              <a:ext cx="3096732" cy="989568"/>
            </a:xfrm>
            <a:prstGeom prst="rect">
              <a:avLst/>
            </a:prstGeom>
            <a:solidFill>
              <a:srgbClr val="0B3C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xmlns="" id="{EE92795E-DB23-F12C-8B24-8DFF8E58DB89}"/>
                </a:ext>
              </a:extLst>
            </p:cNvPr>
            <p:cNvSpPr txBox="1"/>
            <p:nvPr/>
          </p:nvSpPr>
          <p:spPr>
            <a:xfrm>
              <a:off x="8122831" y="2394816"/>
              <a:ext cx="3096732" cy="87171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dirty="0">
                  <a:solidFill>
                    <a:srgbClr val="F5F5F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Enforced Multi-Factor Authentication (MFA)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xmlns="" id="{E98F42EB-CB93-C83D-9E84-9DB0A0D261F3}"/>
              </a:ext>
            </a:extLst>
          </p:cNvPr>
          <p:cNvGrpSpPr/>
          <p:nvPr/>
        </p:nvGrpSpPr>
        <p:grpSpPr>
          <a:xfrm>
            <a:off x="8122831" y="3624876"/>
            <a:ext cx="3096732" cy="1287212"/>
            <a:chOff x="8122831" y="3624876"/>
            <a:chExt cx="3096732" cy="1287212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xmlns="" id="{5CFD9B95-2723-9E97-F1FC-AD471456D35C}"/>
                </a:ext>
              </a:extLst>
            </p:cNvPr>
            <p:cNvSpPr/>
            <p:nvPr/>
          </p:nvSpPr>
          <p:spPr>
            <a:xfrm>
              <a:off x="8122831" y="3624876"/>
              <a:ext cx="3096732" cy="1287212"/>
            </a:xfrm>
            <a:prstGeom prst="rect">
              <a:avLst/>
            </a:prstGeom>
            <a:solidFill>
              <a:srgbClr val="0B3C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8DA0F322-0BDD-8BE5-8C08-8CB627799BEE}"/>
                </a:ext>
              </a:extLst>
            </p:cNvPr>
            <p:cNvSpPr txBox="1"/>
            <p:nvPr/>
          </p:nvSpPr>
          <p:spPr>
            <a:xfrm>
              <a:off x="8122831" y="3832626"/>
              <a:ext cx="3096732" cy="8717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dirty="0">
                  <a:solidFill>
                    <a:srgbClr val="F5F5F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Group-based Role-Based Access Control (RBAC)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xmlns="" id="{AF23739B-1009-AB39-CBA2-D7E599F0BDC2}"/>
              </a:ext>
            </a:extLst>
          </p:cNvPr>
          <p:cNvGrpSpPr/>
          <p:nvPr/>
        </p:nvGrpSpPr>
        <p:grpSpPr>
          <a:xfrm>
            <a:off x="8122831" y="5211507"/>
            <a:ext cx="3096733" cy="1287212"/>
            <a:chOff x="8122831" y="5211507"/>
            <a:chExt cx="3096733" cy="1287212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xmlns="" id="{65146AB3-6526-FF18-05F4-4AB9C050A8A6}"/>
                </a:ext>
              </a:extLst>
            </p:cNvPr>
            <p:cNvSpPr/>
            <p:nvPr/>
          </p:nvSpPr>
          <p:spPr>
            <a:xfrm>
              <a:off x="8122831" y="5211507"/>
              <a:ext cx="3096732" cy="1287212"/>
            </a:xfrm>
            <a:prstGeom prst="rect">
              <a:avLst/>
            </a:prstGeom>
            <a:solidFill>
              <a:srgbClr val="0B3C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xmlns="" id="{4EA7D3C4-A551-755B-CAC2-41CC726EE1AC}"/>
                </a:ext>
              </a:extLst>
            </p:cNvPr>
            <p:cNvSpPr txBox="1"/>
            <p:nvPr/>
          </p:nvSpPr>
          <p:spPr>
            <a:xfrm>
              <a:off x="8122832" y="5419256"/>
              <a:ext cx="3096732" cy="8717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dirty="0">
                  <a:solidFill>
                    <a:srgbClr val="F5F5F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Conditional Access policies (e.g., location, device</a:t>
              </a:r>
              <a:r>
                <a:rPr lang="en-US" altLang="en-US" dirty="0">
                  <a:solidFill>
                    <a:srgbClr val="F5F5F5"/>
                  </a:solidFill>
                  <a:latin typeface="Arial" panose="020B0604020202020204" pitchFamily="34" charset="0"/>
                </a:rPr>
                <a:t>)</a:t>
              </a:r>
            </a:p>
          </p:txBody>
        </p:sp>
      </p:grp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xmlns="" id="{615721DA-E3C6-EB1F-11DD-14AEADCFACD3}"/>
              </a:ext>
            </a:extLst>
          </p:cNvPr>
          <p:cNvCxnSpPr/>
          <p:nvPr/>
        </p:nvCxnSpPr>
        <p:spPr>
          <a:xfrm>
            <a:off x="4279900" y="2394816"/>
            <a:ext cx="0" cy="230846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xmlns="" id="{469569CE-943D-E8AB-7CEC-3A04C65AA7B3}"/>
              </a:ext>
            </a:extLst>
          </p:cNvPr>
          <p:cNvCxnSpPr/>
          <p:nvPr/>
        </p:nvCxnSpPr>
        <p:spPr>
          <a:xfrm>
            <a:off x="7924800" y="2470643"/>
            <a:ext cx="0" cy="230846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511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5" grpId="0"/>
      <p:bldP spid="4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AF097811-F26F-7D4C-576D-4520D37EC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>
            <a:extLst>
              <a:ext uri="{FF2B5EF4-FFF2-40B4-BE49-F238E27FC236}">
                <a16:creationId xmlns:a16="http://schemas.microsoft.com/office/drawing/2014/main" xmlns="" id="{0120EFFD-187F-D13F-6C1A-35F82D33C2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2170471"/>
            <a:ext cx="7054921" cy="4703281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xmlns="" id="{8E1A8F4C-0DBF-F719-D0B3-403E271B553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079" y="0"/>
            <a:ext cx="7054921" cy="47032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D619889-321F-CE9A-5BE9-729DF90BADF2}"/>
              </a:ext>
            </a:extLst>
          </p:cNvPr>
          <p:cNvSpPr txBox="1"/>
          <p:nvPr/>
        </p:nvSpPr>
        <p:spPr>
          <a:xfrm>
            <a:off x="972437" y="905067"/>
            <a:ext cx="35129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600" b="1" dirty="0">
                <a:solidFill>
                  <a:srgbClr val="0B3C5D"/>
                </a:solidFill>
              </a:rPr>
              <a:t>ARCHITECTURE DIAGRAM</a:t>
            </a:r>
            <a:endParaRPr lang="en-US" altLang="en-US" sz="3600" b="1" dirty="0">
              <a:solidFill>
                <a:srgbClr val="0B3C5D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A682DE4A-EB30-62D8-CB19-F79047EC4D43}"/>
              </a:ext>
            </a:extLst>
          </p:cNvPr>
          <p:cNvSpPr txBox="1"/>
          <p:nvPr/>
        </p:nvSpPr>
        <p:spPr>
          <a:xfrm>
            <a:off x="7729086" y="3203667"/>
            <a:ext cx="41901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diagram illustrates how users from </a:t>
            </a:r>
            <a:r>
              <a:rPr lang="en-US" dirty="0" err="1"/>
              <a:t>roboboy.online</a:t>
            </a:r>
            <a:r>
              <a:rPr lang="en-US" dirty="0"/>
              <a:t> are authenticated via Microsoft Entra ID with enforced MFA and Conditional Access policies. Group membership determines the IAM role assigned in AWS through a SAML token, granting secure access to the AWS Console based on job role.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xmlns="" id="{D5D5886E-49D9-0728-1D07-201B67529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219" y="2105396"/>
            <a:ext cx="6529258" cy="4353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42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020948C-FC66-B564-D7A8-4F10B61D6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76B1CE91-7F0B-57EC-4FBC-4AEDFC65901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079" y="0"/>
            <a:ext cx="7054921" cy="470328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057E5CF1-F385-2C59-D2BE-F39F9FBB1B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2170471"/>
            <a:ext cx="7054921" cy="47032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F932515-8AD0-97C7-7963-AF04D17A4658}"/>
              </a:ext>
            </a:extLst>
          </p:cNvPr>
          <p:cNvSpPr txBox="1"/>
          <p:nvPr/>
        </p:nvSpPr>
        <p:spPr>
          <a:xfrm>
            <a:off x="711200" y="4893270"/>
            <a:ext cx="10629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Each user is assigned to a Microsoft Entra group representing their department. These groups are mapped to specific AWS IAM roles, granting access based on job responsibilities.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4B4DB195-E021-C1A7-63D0-C94B0B4FA729}"/>
              </a:ext>
            </a:extLst>
          </p:cNvPr>
          <p:cNvSpPr txBox="1"/>
          <p:nvPr/>
        </p:nvSpPr>
        <p:spPr>
          <a:xfrm>
            <a:off x="972437" y="905067"/>
            <a:ext cx="34070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600" b="1" dirty="0">
                <a:solidFill>
                  <a:srgbClr val="0B3C5D"/>
                </a:solidFill>
              </a:rPr>
              <a:t>GROUP ROLE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 dirty="0">
                <a:solidFill>
                  <a:srgbClr val="0B3C5D"/>
                </a:solidFill>
              </a:rPr>
              <a:t>AND MAPPING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xmlns="" id="{100E86F4-D50A-D3B6-44EC-6D9B18AE59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595859"/>
              </p:ext>
            </p:extLst>
          </p:nvPr>
        </p:nvGraphicFramePr>
        <p:xfrm>
          <a:off x="825500" y="2563654"/>
          <a:ext cx="10515600" cy="22860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xmlns="" val="353850919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xmlns="" val="23311122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xmlns="" val="15667723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xmlns="" val="8374016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68452"/>
                          </a:solidFill>
                        </a:rPr>
                        <a:t>USER</a:t>
                      </a:r>
                      <a:endParaRPr lang="en-US" dirty="0">
                        <a:solidFill>
                          <a:srgbClr val="C6845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68452"/>
                          </a:solidFill>
                        </a:rPr>
                        <a:t>ENTRA GROUP</a:t>
                      </a:r>
                      <a:endParaRPr lang="en-US" dirty="0">
                        <a:solidFill>
                          <a:srgbClr val="C6845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68452"/>
                          </a:solidFill>
                        </a:rPr>
                        <a:t>IAM ROLE</a:t>
                      </a:r>
                      <a:endParaRPr lang="en-US" dirty="0">
                        <a:solidFill>
                          <a:srgbClr val="C6845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68452"/>
                          </a:solidFill>
                        </a:rPr>
                        <a:t>ACCESS LEVEL</a:t>
                      </a:r>
                      <a:endParaRPr lang="en-US" dirty="0">
                        <a:solidFill>
                          <a:srgbClr val="C6845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102835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>
                          <a:hlinkClick r:id="rId3"/>
                        </a:rPr>
                        <a:t>idris.musa@roboboy.online</a:t>
                      </a:r>
                      <a:r>
                        <a:rPr lang="en-US" dirty="0"/>
                        <a:t> </a:t>
                      </a:r>
                      <a:endParaRPr lang="en-US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GRP-AWS-</a:t>
                      </a:r>
                      <a:r>
                        <a:rPr lang="en-US" dirty="0" err="1"/>
                        <a:t>AdminAccess</a:t>
                      </a:r>
                      <a:endParaRPr lang="en-US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AdminAccess</a:t>
                      </a:r>
                      <a:endParaRPr lang="en-US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Full AWS admin rights</a:t>
                      </a:r>
                      <a:endParaRPr lang="en-US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825477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hlinkClick r:id="rId4"/>
                        </a:rPr>
                        <a:t>david@roboboy.online</a:t>
                      </a:r>
                      <a:endParaRPr lang="en-US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GRP-AWS-DevReadOnly</a:t>
                      </a:r>
                      <a:endParaRPr lang="en-US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DevReadOnly</a:t>
                      </a:r>
                      <a:endParaRPr lang="en-US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Read-only access to dev tools</a:t>
                      </a:r>
                      <a:endParaRPr lang="en-US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628828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hlinkClick r:id="rId5"/>
                        </a:rPr>
                        <a:t>fola@roboboy.online</a:t>
                      </a:r>
                      <a:endParaRPr lang="en-US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GRP-AWS-FinanceViewer</a:t>
                      </a:r>
                      <a:endParaRPr lang="en-US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FinanceViewer</a:t>
                      </a:r>
                      <a:endParaRPr lang="en-US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View-only access to billing features</a:t>
                      </a:r>
                      <a:endParaRPr lang="en-US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889961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7147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xmlns="" id="{624E2B4C-D7C6-CC6C-40D8-5B0645DF175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079" y="0"/>
            <a:ext cx="7054921" cy="4703281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xmlns="" id="{C718E3AB-9AA3-DC60-2242-433B49A9DA0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2170471"/>
            <a:ext cx="7054921" cy="47032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0D4D688-1562-8FEF-AEAF-5AD1E7781887}"/>
              </a:ext>
            </a:extLst>
          </p:cNvPr>
          <p:cNvSpPr txBox="1"/>
          <p:nvPr/>
        </p:nvSpPr>
        <p:spPr>
          <a:xfrm>
            <a:off x="972437" y="905067"/>
            <a:ext cx="42829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600" b="1" dirty="0">
                <a:solidFill>
                  <a:srgbClr val="0B3C5D"/>
                </a:solidFill>
              </a:rPr>
              <a:t>ZERO TRUST CONTROLS</a:t>
            </a:r>
            <a:endParaRPr lang="en-US" altLang="en-US" sz="3600" b="1" dirty="0">
              <a:solidFill>
                <a:srgbClr val="0B3C5D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A5CBEE1D-2343-42CA-9BA1-2379D185A26A}"/>
              </a:ext>
            </a:extLst>
          </p:cNvPr>
          <p:cNvCxnSpPr>
            <a:cxnSpLocks/>
          </p:cNvCxnSpPr>
          <p:nvPr/>
        </p:nvCxnSpPr>
        <p:spPr>
          <a:xfrm>
            <a:off x="6096000" y="2274767"/>
            <a:ext cx="0" cy="374503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xmlns="" id="{D9156E59-03C9-5AFB-0C8E-C133774423EB}"/>
              </a:ext>
            </a:extLst>
          </p:cNvPr>
          <p:cNvGrpSpPr/>
          <p:nvPr/>
        </p:nvGrpSpPr>
        <p:grpSpPr>
          <a:xfrm>
            <a:off x="393699" y="2335888"/>
            <a:ext cx="5588001" cy="989568"/>
            <a:chOff x="393699" y="2335888"/>
            <a:chExt cx="5588001" cy="98956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D6E99D16-D5F5-3B93-C3F4-8E34C4CF2D8E}"/>
                </a:ext>
              </a:extLst>
            </p:cNvPr>
            <p:cNvSpPr/>
            <p:nvPr/>
          </p:nvSpPr>
          <p:spPr>
            <a:xfrm>
              <a:off x="2247895" y="2335888"/>
              <a:ext cx="3733804" cy="989568"/>
            </a:xfrm>
            <a:prstGeom prst="rect">
              <a:avLst/>
            </a:prstGeom>
            <a:solidFill>
              <a:srgbClr val="0B3C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0ADA6AF8-13BC-42A5-3EA8-AA7541AE208A}"/>
                </a:ext>
              </a:extLst>
            </p:cNvPr>
            <p:cNvSpPr txBox="1"/>
            <p:nvPr/>
          </p:nvSpPr>
          <p:spPr>
            <a:xfrm>
              <a:off x="2247898" y="2369007"/>
              <a:ext cx="3733802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dirty="0">
                  <a:solidFill>
                    <a:srgbClr val="F5F5F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Enforced Multi-Factor Authentication using Microsoft Authenticator for all users</a:t>
              </a:r>
              <a:endParaRPr lang="en-US" altLang="en-US" b="1" dirty="0">
                <a:solidFill>
                  <a:srgbClr val="F5F5F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xmlns="" id="{5004BAF6-471E-3FC0-154D-707FF56D25B3}"/>
                </a:ext>
              </a:extLst>
            </p:cNvPr>
            <p:cNvSpPr/>
            <p:nvPr/>
          </p:nvSpPr>
          <p:spPr>
            <a:xfrm>
              <a:off x="393701" y="2335888"/>
              <a:ext cx="1854196" cy="989568"/>
            </a:xfrm>
            <a:prstGeom prst="rect">
              <a:avLst/>
            </a:prstGeom>
            <a:solidFill>
              <a:srgbClr val="C684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68452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2EF61662-1F37-50DF-239B-69B060220C8B}"/>
                </a:ext>
              </a:extLst>
            </p:cNvPr>
            <p:cNvSpPr txBox="1"/>
            <p:nvPr/>
          </p:nvSpPr>
          <p:spPr>
            <a:xfrm>
              <a:off x="393699" y="2630617"/>
              <a:ext cx="185419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rgbClr val="0B3C5D"/>
                  </a:solidFill>
                  <a:effectLst/>
                </a:rPr>
                <a:t>MFA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xmlns="" id="{605004A5-278D-909B-4CE2-79193A8DFB0D}"/>
              </a:ext>
            </a:extLst>
          </p:cNvPr>
          <p:cNvGrpSpPr/>
          <p:nvPr/>
        </p:nvGrpSpPr>
        <p:grpSpPr>
          <a:xfrm>
            <a:off x="393699" y="3679090"/>
            <a:ext cx="5588001" cy="989568"/>
            <a:chOff x="393699" y="3679090"/>
            <a:chExt cx="5588001" cy="989568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xmlns="" id="{A1C6C491-8347-D087-FC3F-4198C05B8AAD}"/>
                </a:ext>
              </a:extLst>
            </p:cNvPr>
            <p:cNvSpPr/>
            <p:nvPr/>
          </p:nvSpPr>
          <p:spPr>
            <a:xfrm>
              <a:off x="2247893" y="3679090"/>
              <a:ext cx="3733805" cy="989568"/>
            </a:xfrm>
            <a:prstGeom prst="rect">
              <a:avLst/>
            </a:prstGeom>
            <a:solidFill>
              <a:srgbClr val="0B3C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81D26A98-A1FD-AA33-045E-1615D033429C}"/>
                </a:ext>
              </a:extLst>
            </p:cNvPr>
            <p:cNvSpPr txBox="1"/>
            <p:nvPr/>
          </p:nvSpPr>
          <p:spPr>
            <a:xfrm>
              <a:off x="2247897" y="3850709"/>
              <a:ext cx="373380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5F5F5"/>
                  </a:solidFill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r>
                <a:rPr lang="en-US" altLang="en-US" dirty="0"/>
                <a:t>Access rules based on location, device compliance, and sign-in risk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xmlns="" id="{E2140D83-68FD-B53A-75EF-57AACBC5A626}"/>
                </a:ext>
              </a:extLst>
            </p:cNvPr>
            <p:cNvSpPr/>
            <p:nvPr/>
          </p:nvSpPr>
          <p:spPr>
            <a:xfrm>
              <a:off x="393701" y="3679090"/>
              <a:ext cx="1854196" cy="989568"/>
            </a:xfrm>
            <a:prstGeom prst="rect">
              <a:avLst/>
            </a:prstGeom>
            <a:solidFill>
              <a:srgbClr val="C684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585B9AC6-3BA6-9FA7-3950-238C0A977DBB}"/>
                </a:ext>
              </a:extLst>
            </p:cNvPr>
            <p:cNvSpPr txBox="1"/>
            <p:nvPr/>
          </p:nvSpPr>
          <p:spPr>
            <a:xfrm>
              <a:off x="393699" y="3819931"/>
              <a:ext cx="1854196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b="1" dirty="0">
                  <a:solidFill>
                    <a:srgbClr val="0B3C5D"/>
                  </a:solidFill>
                </a:rPr>
                <a:t>CONDITIONAL ACCESS</a:t>
              </a:r>
              <a:endPara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B3C5D"/>
                </a:solidFill>
                <a:effectLst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xmlns="" id="{38F5266A-71EF-15F1-0609-EFEFD16282E0}"/>
              </a:ext>
            </a:extLst>
          </p:cNvPr>
          <p:cNvGrpSpPr/>
          <p:nvPr/>
        </p:nvGrpSpPr>
        <p:grpSpPr>
          <a:xfrm>
            <a:off x="393699" y="4963365"/>
            <a:ext cx="5588001" cy="989568"/>
            <a:chOff x="393699" y="4963365"/>
            <a:chExt cx="5588001" cy="98956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5FEDD750-E3D2-6FBF-A55E-04A076491825}"/>
                </a:ext>
              </a:extLst>
            </p:cNvPr>
            <p:cNvSpPr/>
            <p:nvPr/>
          </p:nvSpPr>
          <p:spPr>
            <a:xfrm>
              <a:off x="2247895" y="4963365"/>
              <a:ext cx="3733804" cy="989568"/>
            </a:xfrm>
            <a:prstGeom prst="rect">
              <a:avLst/>
            </a:prstGeom>
            <a:solidFill>
              <a:srgbClr val="0B3C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29426363-CA36-9409-7EBB-103352B0EAE5}"/>
                </a:ext>
              </a:extLst>
            </p:cNvPr>
            <p:cNvSpPr txBox="1"/>
            <p:nvPr/>
          </p:nvSpPr>
          <p:spPr>
            <a:xfrm>
              <a:off x="2247893" y="4996484"/>
              <a:ext cx="3733807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5F5F5"/>
                  </a:solidFill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r>
                <a:rPr lang="en-US" altLang="en-US" dirty="0"/>
                <a:t>Roles are assigned based on Entra group membership — not individual users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xmlns="" id="{1B12D516-1C15-AA02-EE38-BD8D7ADB8BF3}"/>
                </a:ext>
              </a:extLst>
            </p:cNvPr>
            <p:cNvSpPr/>
            <p:nvPr/>
          </p:nvSpPr>
          <p:spPr>
            <a:xfrm>
              <a:off x="393701" y="4963365"/>
              <a:ext cx="1854196" cy="989568"/>
            </a:xfrm>
            <a:prstGeom prst="rect">
              <a:avLst/>
            </a:prstGeom>
            <a:solidFill>
              <a:srgbClr val="C684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8919AF14-5D03-A3D1-C187-37C536E44865}"/>
                </a:ext>
              </a:extLst>
            </p:cNvPr>
            <p:cNvSpPr txBox="1"/>
            <p:nvPr/>
          </p:nvSpPr>
          <p:spPr>
            <a:xfrm>
              <a:off x="393699" y="5104206"/>
              <a:ext cx="1854196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 algn="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rgbClr val="0B3C5D"/>
                  </a:solidFill>
                  <a:latin typeface="Arial" panose="020B0604020202020204" pitchFamily="34" charset="0"/>
                </a:defRPr>
              </a:lvl1pPr>
            </a:lstStyle>
            <a:p>
              <a:r>
                <a:rPr lang="en-US" altLang="en-US" sz="2000" dirty="0">
                  <a:latin typeface="+mn-lt"/>
                </a:rPr>
                <a:t>GROUP-BASED ACCESS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xmlns="" id="{D3778449-D723-6E3C-20B3-EBD955205DAF}"/>
              </a:ext>
            </a:extLst>
          </p:cNvPr>
          <p:cNvGrpSpPr/>
          <p:nvPr/>
        </p:nvGrpSpPr>
        <p:grpSpPr>
          <a:xfrm>
            <a:off x="6210300" y="2332875"/>
            <a:ext cx="5588001" cy="989568"/>
            <a:chOff x="6210300" y="2332875"/>
            <a:chExt cx="5588001" cy="989568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xmlns="" id="{F620D23C-8A01-D264-3025-60133ADB828F}"/>
                </a:ext>
              </a:extLst>
            </p:cNvPr>
            <p:cNvSpPr/>
            <p:nvPr/>
          </p:nvSpPr>
          <p:spPr>
            <a:xfrm>
              <a:off x="8064496" y="2332875"/>
              <a:ext cx="3733804" cy="989568"/>
            </a:xfrm>
            <a:prstGeom prst="rect">
              <a:avLst/>
            </a:prstGeom>
            <a:solidFill>
              <a:srgbClr val="0B3C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xmlns="" id="{DF3C7784-F6B6-10CA-85CC-F4435659EEC1}"/>
                </a:ext>
              </a:extLst>
            </p:cNvPr>
            <p:cNvSpPr txBox="1"/>
            <p:nvPr/>
          </p:nvSpPr>
          <p:spPr>
            <a:xfrm>
              <a:off x="8064499" y="2504494"/>
              <a:ext cx="37338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5F5F5"/>
                  </a:solidFill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r>
                <a:rPr lang="en-US" altLang="en-US" dirty="0"/>
                <a:t>AWS trusts Entra ID via SAML, so no AWS passwords are stored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xmlns="" id="{03FD81F5-55C2-98FC-0ECD-75B62962BEF3}"/>
                </a:ext>
              </a:extLst>
            </p:cNvPr>
            <p:cNvSpPr/>
            <p:nvPr/>
          </p:nvSpPr>
          <p:spPr>
            <a:xfrm>
              <a:off x="6210302" y="2332875"/>
              <a:ext cx="1854196" cy="989568"/>
            </a:xfrm>
            <a:prstGeom prst="rect">
              <a:avLst/>
            </a:prstGeom>
            <a:solidFill>
              <a:srgbClr val="C684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68452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xmlns="" id="{32CAABFA-917E-7C4D-0FE0-410DC2F1EC30}"/>
                </a:ext>
              </a:extLst>
            </p:cNvPr>
            <p:cNvSpPr txBox="1"/>
            <p:nvPr/>
          </p:nvSpPr>
          <p:spPr>
            <a:xfrm>
              <a:off x="6210300" y="2473716"/>
              <a:ext cx="1854196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R="0" lvl="0" indent="0"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0" b="1" i="0" u="none" strike="noStrike" cap="none" normalizeH="0" baseline="0">
                  <a:ln>
                    <a:noFill/>
                  </a:ln>
                  <a:solidFill>
                    <a:srgbClr val="0B3C5D"/>
                  </a:solidFill>
                  <a:effectLst/>
                  <a:latin typeface="Arial" panose="020B0604020202020204" pitchFamily="34" charset="0"/>
                </a:defRPr>
              </a:lvl1pPr>
            </a:lstStyle>
            <a:p>
              <a:r>
                <a:rPr lang="en-US" altLang="en-US" sz="2000" dirty="0">
                  <a:latin typeface="+mn-lt"/>
                </a:rPr>
                <a:t>FEDERATED IDENTITY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xmlns="" id="{7219D305-2259-F4C7-2F4E-1C8352C17BBB}"/>
              </a:ext>
            </a:extLst>
          </p:cNvPr>
          <p:cNvGrpSpPr/>
          <p:nvPr/>
        </p:nvGrpSpPr>
        <p:grpSpPr>
          <a:xfrm>
            <a:off x="6210300" y="3676077"/>
            <a:ext cx="5588001" cy="989568"/>
            <a:chOff x="6210300" y="3676077"/>
            <a:chExt cx="5588001" cy="989568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xmlns="" id="{F37C28DA-24FA-DF28-89E2-94A2F59CAF31}"/>
                </a:ext>
              </a:extLst>
            </p:cNvPr>
            <p:cNvSpPr/>
            <p:nvPr/>
          </p:nvSpPr>
          <p:spPr>
            <a:xfrm>
              <a:off x="8064496" y="3676077"/>
              <a:ext cx="3733804" cy="989568"/>
            </a:xfrm>
            <a:prstGeom prst="rect">
              <a:avLst/>
            </a:prstGeom>
            <a:solidFill>
              <a:srgbClr val="0B3C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xmlns="" id="{6B46E726-52FC-4A53-9F1D-16D6664BC5F1}"/>
                </a:ext>
              </a:extLst>
            </p:cNvPr>
            <p:cNvSpPr txBox="1"/>
            <p:nvPr/>
          </p:nvSpPr>
          <p:spPr>
            <a:xfrm>
              <a:off x="8064498" y="3847696"/>
              <a:ext cx="373380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5F5F5"/>
                  </a:solidFill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r>
                <a:rPr lang="en-US" altLang="en-US" dirty="0"/>
                <a:t>All access is managed centrally from Entra, not directly in AWS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xmlns="" id="{DD898F33-AE96-06ED-E5FF-CE8D5EEF5E81}"/>
                </a:ext>
              </a:extLst>
            </p:cNvPr>
            <p:cNvSpPr/>
            <p:nvPr/>
          </p:nvSpPr>
          <p:spPr>
            <a:xfrm>
              <a:off x="6210302" y="3676077"/>
              <a:ext cx="1854196" cy="989568"/>
            </a:xfrm>
            <a:prstGeom prst="rect">
              <a:avLst/>
            </a:prstGeom>
            <a:solidFill>
              <a:srgbClr val="C684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908AFD0B-88E2-3C3A-3643-33C6763B39E1}"/>
                </a:ext>
              </a:extLst>
            </p:cNvPr>
            <p:cNvSpPr txBox="1"/>
            <p:nvPr/>
          </p:nvSpPr>
          <p:spPr>
            <a:xfrm>
              <a:off x="6210300" y="3816918"/>
              <a:ext cx="1854196" cy="70788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en-US"/>
              </a:defPPr>
              <a:lvl1pPr marR="0" lvl="0" indent="0"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0" b="1" i="0" u="none" strike="noStrike" cap="none" normalizeH="0" baseline="0">
                  <a:ln>
                    <a:noFill/>
                  </a:ln>
                  <a:solidFill>
                    <a:srgbClr val="0B3C5D"/>
                  </a:solidFill>
                  <a:effectLst/>
                  <a:latin typeface="Arial" panose="020B0604020202020204" pitchFamily="34" charset="0"/>
                </a:defRPr>
              </a:lvl1pPr>
            </a:lstStyle>
            <a:p>
              <a:r>
                <a:rPr lang="en-US" altLang="en-US" sz="2000" dirty="0">
                  <a:latin typeface="+mn-lt"/>
                </a:rPr>
                <a:t>CENTRAL ROLE MANAGEMENT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xmlns="" id="{FF41B728-C993-3F54-3CA1-865E06660A3A}"/>
              </a:ext>
            </a:extLst>
          </p:cNvPr>
          <p:cNvGrpSpPr/>
          <p:nvPr/>
        </p:nvGrpSpPr>
        <p:grpSpPr>
          <a:xfrm>
            <a:off x="6077590" y="4960352"/>
            <a:ext cx="5720710" cy="989568"/>
            <a:chOff x="6077590" y="4960352"/>
            <a:chExt cx="5720710" cy="989568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xmlns="" id="{C805EF60-33B8-52EA-A3FE-4D6EA15E570D}"/>
                </a:ext>
              </a:extLst>
            </p:cNvPr>
            <p:cNvSpPr/>
            <p:nvPr/>
          </p:nvSpPr>
          <p:spPr>
            <a:xfrm>
              <a:off x="8064496" y="4960352"/>
              <a:ext cx="3733804" cy="989568"/>
            </a:xfrm>
            <a:prstGeom prst="rect">
              <a:avLst/>
            </a:prstGeom>
            <a:solidFill>
              <a:srgbClr val="0B3C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xmlns="" id="{4377B790-2C47-5667-0244-76EF58AB8865}"/>
                </a:ext>
              </a:extLst>
            </p:cNvPr>
            <p:cNvSpPr txBox="1"/>
            <p:nvPr/>
          </p:nvSpPr>
          <p:spPr>
            <a:xfrm>
              <a:off x="8064496" y="5131971"/>
              <a:ext cx="373380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5F5F5"/>
                  </a:solidFill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r>
                <a:rPr lang="en-US" altLang="en-US" dirty="0"/>
                <a:t>Each user receives only the access required for their role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xmlns="" id="{6E01D88F-7FEB-C79D-F840-D70247C6499C}"/>
                </a:ext>
              </a:extLst>
            </p:cNvPr>
            <p:cNvSpPr/>
            <p:nvPr/>
          </p:nvSpPr>
          <p:spPr>
            <a:xfrm>
              <a:off x="6210302" y="4960352"/>
              <a:ext cx="1854196" cy="989568"/>
            </a:xfrm>
            <a:prstGeom prst="rect">
              <a:avLst/>
            </a:prstGeom>
            <a:solidFill>
              <a:srgbClr val="C684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xmlns="" id="{DC83B3D7-EBD7-AE80-3EC8-B6464841AC01}"/>
                </a:ext>
              </a:extLst>
            </p:cNvPr>
            <p:cNvSpPr txBox="1"/>
            <p:nvPr/>
          </p:nvSpPr>
          <p:spPr>
            <a:xfrm>
              <a:off x="6077590" y="5101193"/>
              <a:ext cx="2025406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R="0" lvl="0" indent="0" algn="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0" b="1" i="0" u="none" strike="noStrike" cap="none" normalizeH="0" baseline="0">
                  <a:ln>
                    <a:noFill/>
                  </a:ln>
                  <a:solidFill>
                    <a:srgbClr val="0B3C5D"/>
                  </a:solidFill>
                  <a:effectLst/>
                  <a:latin typeface="Arial" panose="020B0604020202020204" pitchFamily="34" charset="0"/>
                </a:defRPr>
              </a:lvl1pPr>
            </a:lstStyle>
            <a:p>
              <a:r>
                <a:rPr lang="en-US" altLang="en-US" sz="2000" dirty="0">
                  <a:latin typeface="+mn-lt"/>
                </a:rPr>
                <a:t>LEAST PRIVILEGE ENFORCEMENT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1107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xmlns="" id="{AD1829E3-BC5E-7C3B-C9D0-FD4FEF2566E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079" y="0"/>
            <a:ext cx="7054921" cy="4703281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xmlns="" id="{3129A92A-68ED-F9BF-DDF0-C679BB874A4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2170471"/>
            <a:ext cx="7054921" cy="47032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3902749-82AA-40CB-ACB0-C53E598BE2CB}"/>
              </a:ext>
            </a:extLst>
          </p:cNvPr>
          <p:cNvSpPr txBox="1"/>
          <p:nvPr/>
        </p:nvSpPr>
        <p:spPr>
          <a:xfrm>
            <a:off x="972437" y="905067"/>
            <a:ext cx="44080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600" b="1" dirty="0">
                <a:solidFill>
                  <a:srgbClr val="0B3C5D"/>
                </a:solidFill>
              </a:rPr>
              <a:t>FUNCTIONAL DEMO SUMMARY</a:t>
            </a:r>
            <a:endParaRPr lang="en-US" altLang="en-US" sz="3600" b="1" dirty="0">
              <a:solidFill>
                <a:srgbClr val="0B3C5D"/>
              </a:solidFill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xmlns="" id="{E3E74A51-22C3-D847-D2DC-23A72D0D0724}"/>
              </a:ext>
            </a:extLst>
          </p:cNvPr>
          <p:cNvGrpSpPr/>
          <p:nvPr/>
        </p:nvGrpSpPr>
        <p:grpSpPr>
          <a:xfrm>
            <a:off x="1212785" y="2329470"/>
            <a:ext cx="9766430" cy="416054"/>
            <a:chOff x="596770" y="2335888"/>
            <a:chExt cx="9766430" cy="40011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20114FFB-15EB-3693-15CB-A7BF84CC8BC3}"/>
                </a:ext>
              </a:extLst>
            </p:cNvPr>
            <p:cNvSpPr/>
            <p:nvPr/>
          </p:nvSpPr>
          <p:spPr>
            <a:xfrm>
              <a:off x="972436" y="2335888"/>
              <a:ext cx="9390764" cy="400110"/>
            </a:xfrm>
            <a:prstGeom prst="rect">
              <a:avLst/>
            </a:prstGeom>
            <a:solidFill>
              <a:srgbClr val="0B3C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669CA4A8-67AA-E26C-C2CE-49A0B8DE38E8}"/>
                </a:ext>
              </a:extLst>
            </p:cNvPr>
            <p:cNvSpPr txBox="1"/>
            <p:nvPr/>
          </p:nvSpPr>
          <p:spPr>
            <a:xfrm>
              <a:off x="972435" y="2335888"/>
              <a:ext cx="9170632" cy="2959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rgbClr val="F5F5F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CREATED 3 USER GROUPS IN MICROSOFT ENTRA ID USING NAMING CONVENTIONS</a:t>
              </a:r>
              <a:endParaRPr lang="en-US" altLang="en-US" sz="1400" b="1" dirty="0">
                <a:solidFill>
                  <a:srgbClr val="F5F5F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F67A482A-171C-D30B-766F-7DC196FF6EA6}"/>
                </a:ext>
              </a:extLst>
            </p:cNvPr>
            <p:cNvSpPr/>
            <p:nvPr/>
          </p:nvSpPr>
          <p:spPr>
            <a:xfrm>
              <a:off x="596770" y="2335888"/>
              <a:ext cx="375667" cy="40011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rgbClr val="C68452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xmlns="" id="{3D928B35-4C1C-61DD-ECD2-4C52B4DD9BEB}"/>
              </a:ext>
            </a:extLst>
          </p:cNvPr>
          <p:cNvGrpSpPr/>
          <p:nvPr/>
        </p:nvGrpSpPr>
        <p:grpSpPr>
          <a:xfrm>
            <a:off x="1212785" y="2815694"/>
            <a:ext cx="9766430" cy="416054"/>
            <a:chOff x="596770" y="2966490"/>
            <a:chExt cx="9766430" cy="40011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31EC41D4-836C-B54E-B9F3-4182EB5EBFA6}"/>
                </a:ext>
              </a:extLst>
            </p:cNvPr>
            <p:cNvSpPr/>
            <p:nvPr/>
          </p:nvSpPr>
          <p:spPr>
            <a:xfrm>
              <a:off x="972436" y="2966490"/>
              <a:ext cx="9390764" cy="400110"/>
            </a:xfrm>
            <a:prstGeom prst="rect">
              <a:avLst/>
            </a:prstGeom>
            <a:solidFill>
              <a:srgbClr val="0B3C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6A275036-91CF-6710-13E0-18DE778AA765}"/>
                </a:ext>
              </a:extLst>
            </p:cNvPr>
            <p:cNvSpPr txBox="1"/>
            <p:nvPr/>
          </p:nvSpPr>
          <p:spPr>
            <a:xfrm>
              <a:off x="972435" y="2966490"/>
              <a:ext cx="9170632" cy="2959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rgbClr val="F5F5F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PLACED USERS INTO DEPARTMENT-BASED ENTRA GROUPS</a:t>
              </a:r>
              <a:endParaRPr lang="en-US" altLang="en-US" sz="1400" b="1" dirty="0">
                <a:solidFill>
                  <a:srgbClr val="F5F5F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D3E00961-982B-C255-3946-99758276DD1A}"/>
                </a:ext>
              </a:extLst>
            </p:cNvPr>
            <p:cNvSpPr/>
            <p:nvPr/>
          </p:nvSpPr>
          <p:spPr>
            <a:xfrm>
              <a:off x="596770" y="2966490"/>
              <a:ext cx="375667" cy="40011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rgbClr val="C68452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xmlns="" id="{4B8578C3-05DD-2FC5-6A31-19E1C38FE26D}"/>
              </a:ext>
            </a:extLst>
          </p:cNvPr>
          <p:cNvGrpSpPr/>
          <p:nvPr/>
        </p:nvGrpSpPr>
        <p:grpSpPr>
          <a:xfrm>
            <a:off x="1212785" y="3301924"/>
            <a:ext cx="9766430" cy="416054"/>
            <a:chOff x="596770" y="3597092"/>
            <a:chExt cx="9766430" cy="40011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xmlns="" id="{5169CCE3-CE6B-BFEC-5A21-359C14B0A6CB}"/>
                </a:ext>
              </a:extLst>
            </p:cNvPr>
            <p:cNvSpPr/>
            <p:nvPr/>
          </p:nvSpPr>
          <p:spPr>
            <a:xfrm>
              <a:off x="972436" y="3597092"/>
              <a:ext cx="9390764" cy="400110"/>
            </a:xfrm>
            <a:prstGeom prst="rect">
              <a:avLst/>
            </a:prstGeom>
            <a:solidFill>
              <a:srgbClr val="0B3C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A841BE74-364F-A64F-B1D7-05AF251886EE}"/>
                </a:ext>
              </a:extLst>
            </p:cNvPr>
            <p:cNvSpPr txBox="1"/>
            <p:nvPr/>
          </p:nvSpPr>
          <p:spPr>
            <a:xfrm>
              <a:off x="972435" y="3597092"/>
              <a:ext cx="9170632" cy="2959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rgbClr val="F5F5F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CONFIGURED AWS IAM ROLES AND TRUST RELATIONSHIPS</a:t>
              </a:r>
              <a:endParaRPr lang="en-US" altLang="en-US" sz="1400" b="1" dirty="0">
                <a:solidFill>
                  <a:srgbClr val="F5F5F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xmlns="" id="{2F435A68-19BF-6BC4-0EF6-4BC48F61D593}"/>
                </a:ext>
              </a:extLst>
            </p:cNvPr>
            <p:cNvSpPr/>
            <p:nvPr/>
          </p:nvSpPr>
          <p:spPr>
            <a:xfrm>
              <a:off x="596770" y="3597092"/>
              <a:ext cx="375667" cy="40011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rgbClr val="C68452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xmlns="" id="{16699972-4127-248D-7131-5D6D730C44F2}"/>
              </a:ext>
            </a:extLst>
          </p:cNvPr>
          <p:cNvGrpSpPr/>
          <p:nvPr/>
        </p:nvGrpSpPr>
        <p:grpSpPr>
          <a:xfrm>
            <a:off x="1212785" y="3789186"/>
            <a:ext cx="9766430" cy="416054"/>
            <a:chOff x="596770" y="4227694"/>
            <a:chExt cx="9766430" cy="40011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xmlns="" id="{0603419C-EF85-8831-C3D2-E77CF2A12434}"/>
                </a:ext>
              </a:extLst>
            </p:cNvPr>
            <p:cNvSpPr/>
            <p:nvPr/>
          </p:nvSpPr>
          <p:spPr>
            <a:xfrm>
              <a:off x="972436" y="4227694"/>
              <a:ext cx="9390764" cy="400110"/>
            </a:xfrm>
            <a:prstGeom prst="rect">
              <a:avLst/>
            </a:prstGeom>
            <a:solidFill>
              <a:srgbClr val="0B3C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AE0438C6-77CE-24F5-8992-24D55C4DCAC1}"/>
                </a:ext>
              </a:extLst>
            </p:cNvPr>
            <p:cNvSpPr txBox="1"/>
            <p:nvPr/>
          </p:nvSpPr>
          <p:spPr>
            <a:xfrm>
              <a:off x="972435" y="4227694"/>
              <a:ext cx="9170632" cy="2959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rgbClr val="F5F5F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LINKED ENTRA ID WITH AWS VIA SAML-BASED SSO</a:t>
              </a:r>
              <a:endParaRPr lang="en-US" altLang="en-US" sz="1400" b="1" dirty="0">
                <a:solidFill>
                  <a:srgbClr val="F5F5F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xmlns="" id="{1F72AFA9-E913-313E-2F8C-2350B4D476CA}"/>
                </a:ext>
              </a:extLst>
            </p:cNvPr>
            <p:cNvSpPr/>
            <p:nvPr/>
          </p:nvSpPr>
          <p:spPr>
            <a:xfrm>
              <a:off x="596770" y="4227694"/>
              <a:ext cx="375667" cy="40011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rgbClr val="C68452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xmlns="" id="{6C922EC6-071A-ACAB-62F6-A5CE2278E8D1}"/>
              </a:ext>
            </a:extLst>
          </p:cNvPr>
          <p:cNvGrpSpPr/>
          <p:nvPr/>
        </p:nvGrpSpPr>
        <p:grpSpPr>
          <a:xfrm>
            <a:off x="1212785" y="4270315"/>
            <a:ext cx="9766430" cy="416054"/>
            <a:chOff x="596770" y="4858296"/>
            <a:chExt cx="9766430" cy="40011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xmlns="" id="{ED56E91A-6E3E-F246-04ED-73C1EAE70222}"/>
                </a:ext>
              </a:extLst>
            </p:cNvPr>
            <p:cNvSpPr/>
            <p:nvPr/>
          </p:nvSpPr>
          <p:spPr>
            <a:xfrm>
              <a:off x="972436" y="4858296"/>
              <a:ext cx="9390764" cy="400110"/>
            </a:xfrm>
            <a:prstGeom prst="rect">
              <a:avLst/>
            </a:prstGeom>
            <a:solidFill>
              <a:srgbClr val="0B3C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9F8C455C-8816-898F-1B8A-78F3852061EC}"/>
                </a:ext>
              </a:extLst>
            </p:cNvPr>
            <p:cNvSpPr txBox="1"/>
            <p:nvPr/>
          </p:nvSpPr>
          <p:spPr>
            <a:xfrm>
              <a:off x="972435" y="4858296"/>
              <a:ext cx="9170632" cy="2959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rgbClr val="F5F5F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ATTEMPTED LOGIN — SAML TOKEN GENERATED, BUT ACCESS FAILED</a:t>
              </a:r>
              <a:endParaRPr lang="en-US" altLang="en-US" sz="1400" b="1" dirty="0">
                <a:solidFill>
                  <a:srgbClr val="F5F5F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xmlns="" id="{A1B6B4A6-D1B8-A666-D9BE-BE6700CAB6FF}"/>
                </a:ext>
              </a:extLst>
            </p:cNvPr>
            <p:cNvSpPr/>
            <p:nvPr/>
          </p:nvSpPr>
          <p:spPr>
            <a:xfrm>
              <a:off x="596770" y="4858296"/>
              <a:ext cx="375667" cy="40011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rgbClr val="C68452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xmlns="" id="{9841D076-1642-817B-CD44-043570D23C1D}"/>
              </a:ext>
            </a:extLst>
          </p:cNvPr>
          <p:cNvGrpSpPr/>
          <p:nvPr/>
        </p:nvGrpSpPr>
        <p:grpSpPr>
          <a:xfrm>
            <a:off x="1212785" y="4755108"/>
            <a:ext cx="9766430" cy="416054"/>
            <a:chOff x="596770" y="5488898"/>
            <a:chExt cx="9766430" cy="40011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xmlns="" id="{30FA54A9-2B3D-7C30-448B-EE62FC1BB5AF}"/>
                </a:ext>
              </a:extLst>
            </p:cNvPr>
            <p:cNvSpPr/>
            <p:nvPr/>
          </p:nvSpPr>
          <p:spPr>
            <a:xfrm>
              <a:off x="972436" y="5488898"/>
              <a:ext cx="9390764" cy="400110"/>
            </a:xfrm>
            <a:prstGeom prst="rect">
              <a:avLst/>
            </a:prstGeom>
            <a:solidFill>
              <a:srgbClr val="0B3C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A7E14122-3FA3-23C1-2CB6-32AC64AB362C}"/>
                </a:ext>
              </a:extLst>
            </p:cNvPr>
            <p:cNvSpPr txBox="1"/>
            <p:nvPr/>
          </p:nvSpPr>
          <p:spPr>
            <a:xfrm>
              <a:off x="972435" y="5488898"/>
              <a:ext cx="9170632" cy="2959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rgbClr val="F5F5F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IDENTIFIED THE NEED TO CONFIGURE THE RIGHT PERMISSION BEFORE LOG-IN</a:t>
              </a:r>
              <a:endParaRPr lang="en-US" altLang="en-US" sz="1400" b="1" dirty="0">
                <a:solidFill>
                  <a:srgbClr val="F5F5F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xmlns="" id="{77FBB38B-DE40-F19C-4730-7ABF29A2A088}"/>
                </a:ext>
              </a:extLst>
            </p:cNvPr>
            <p:cNvSpPr/>
            <p:nvPr/>
          </p:nvSpPr>
          <p:spPr>
            <a:xfrm>
              <a:off x="596770" y="5488898"/>
              <a:ext cx="375667" cy="40011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rgbClr val="C68452"/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xmlns="" id="{9C7E739E-181B-A652-A0DF-0EC31E645304}"/>
              </a:ext>
            </a:extLst>
          </p:cNvPr>
          <p:cNvGrpSpPr/>
          <p:nvPr/>
        </p:nvGrpSpPr>
        <p:grpSpPr>
          <a:xfrm>
            <a:off x="1212785" y="5236237"/>
            <a:ext cx="9766430" cy="416054"/>
            <a:chOff x="596770" y="6119500"/>
            <a:chExt cx="9766430" cy="40011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xmlns="" id="{048D39C4-674B-C83A-F310-8023A3E0D501}"/>
                </a:ext>
              </a:extLst>
            </p:cNvPr>
            <p:cNvSpPr/>
            <p:nvPr/>
          </p:nvSpPr>
          <p:spPr>
            <a:xfrm>
              <a:off x="972436" y="6119500"/>
              <a:ext cx="9390764" cy="400110"/>
            </a:xfrm>
            <a:prstGeom prst="rect">
              <a:avLst/>
            </a:prstGeom>
            <a:solidFill>
              <a:srgbClr val="0B3C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D3FF6AED-6A92-77EC-1F57-6914FCE66616}"/>
                </a:ext>
              </a:extLst>
            </p:cNvPr>
            <p:cNvSpPr txBox="1"/>
            <p:nvPr/>
          </p:nvSpPr>
          <p:spPr>
            <a:xfrm>
              <a:off x="972435" y="6119500"/>
              <a:ext cx="9170632" cy="2959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rgbClr val="F5F5F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SETUP CONDITIONAL ACCESS POLICIES</a:t>
              </a:r>
              <a:endParaRPr lang="en-US" altLang="en-US" sz="1400" b="1" dirty="0">
                <a:solidFill>
                  <a:srgbClr val="F5F5F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xmlns="" id="{E3D12484-2563-9E76-8B0D-A63A02A7C475}"/>
                </a:ext>
              </a:extLst>
            </p:cNvPr>
            <p:cNvSpPr/>
            <p:nvPr/>
          </p:nvSpPr>
          <p:spPr>
            <a:xfrm>
              <a:off x="596770" y="6119500"/>
              <a:ext cx="375667" cy="40011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rgbClr val="C68452"/>
                </a:solidFill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55C37FF8-E070-569F-6BFC-CBD3E4035A3D}"/>
              </a:ext>
            </a:extLst>
          </p:cNvPr>
          <p:cNvGrpSpPr/>
          <p:nvPr/>
        </p:nvGrpSpPr>
        <p:grpSpPr>
          <a:xfrm>
            <a:off x="1212785" y="5688558"/>
            <a:ext cx="9766430" cy="416054"/>
            <a:chOff x="596770" y="6119500"/>
            <a:chExt cx="9766430" cy="40011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xmlns="" id="{08DD8A5E-DEB4-D101-AD2A-8DD423AF48FF}"/>
                </a:ext>
              </a:extLst>
            </p:cNvPr>
            <p:cNvSpPr/>
            <p:nvPr/>
          </p:nvSpPr>
          <p:spPr>
            <a:xfrm>
              <a:off x="972436" y="6119500"/>
              <a:ext cx="9390764" cy="400110"/>
            </a:xfrm>
            <a:prstGeom prst="rect">
              <a:avLst/>
            </a:prstGeom>
            <a:solidFill>
              <a:srgbClr val="0B3C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xmlns="" id="{2A1ACB8A-3F2F-DCF4-292D-7FCB64C8A5FA}"/>
                </a:ext>
              </a:extLst>
            </p:cNvPr>
            <p:cNvSpPr txBox="1"/>
            <p:nvPr/>
          </p:nvSpPr>
          <p:spPr>
            <a:xfrm>
              <a:off x="972435" y="6119500"/>
              <a:ext cx="9170632" cy="2959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rgbClr val="F5F5F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DOCUMENTED TROUBLESHOOTING STEPS AND LESSONS LEARNED</a:t>
              </a:r>
              <a:endParaRPr lang="en-US" altLang="en-US" sz="1400" b="1" dirty="0">
                <a:solidFill>
                  <a:srgbClr val="F5F5F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D4605943-AFF9-FCAE-AFBB-EDAFE5DF20C7}"/>
                </a:ext>
              </a:extLst>
            </p:cNvPr>
            <p:cNvSpPr/>
            <p:nvPr/>
          </p:nvSpPr>
          <p:spPr>
            <a:xfrm>
              <a:off x="596770" y="6119500"/>
              <a:ext cx="375667" cy="40011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rgbClr val="C6845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3552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A664227-9E26-599E-2635-A2D2EB4DC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xmlns="" id="{6A8DE4DB-F39C-1200-2802-8031864FFA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079" y="0"/>
            <a:ext cx="7054921" cy="4703281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xmlns="" id="{3C906031-5402-EEB5-0085-C9001B6E4A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2170471"/>
            <a:ext cx="7054921" cy="47032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09C3844-C7DE-59AC-052E-BF2CBDE3A56B}"/>
              </a:ext>
            </a:extLst>
          </p:cNvPr>
          <p:cNvSpPr txBox="1"/>
          <p:nvPr/>
        </p:nvSpPr>
        <p:spPr>
          <a:xfrm>
            <a:off x="972437" y="905067"/>
            <a:ext cx="42829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600" b="1" dirty="0">
                <a:solidFill>
                  <a:srgbClr val="0B3C5D"/>
                </a:solidFill>
              </a:rPr>
              <a:t>USER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 dirty="0">
                <a:solidFill>
                  <a:srgbClr val="0B3C5D"/>
                </a:solidFill>
              </a:rPr>
              <a:t>PROVISIONING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AC02F30A-8110-F6B8-966F-B906C6B10E80}"/>
              </a:ext>
            </a:extLst>
          </p:cNvPr>
          <p:cNvCxnSpPr>
            <a:cxnSpLocks/>
          </p:cNvCxnSpPr>
          <p:nvPr/>
        </p:nvCxnSpPr>
        <p:spPr>
          <a:xfrm>
            <a:off x="6096000" y="2274767"/>
            <a:ext cx="0" cy="374503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xmlns="" id="{3B384C53-325B-19DD-7633-2861FCD73C5C}"/>
              </a:ext>
            </a:extLst>
          </p:cNvPr>
          <p:cNvGrpSpPr/>
          <p:nvPr/>
        </p:nvGrpSpPr>
        <p:grpSpPr>
          <a:xfrm>
            <a:off x="393701" y="2335887"/>
            <a:ext cx="5587998" cy="1864461"/>
            <a:chOff x="393701" y="2335888"/>
            <a:chExt cx="5587998" cy="98956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1FBB98D2-8F88-85AC-C39B-315FE3B4E1FD}"/>
                </a:ext>
              </a:extLst>
            </p:cNvPr>
            <p:cNvSpPr/>
            <p:nvPr/>
          </p:nvSpPr>
          <p:spPr>
            <a:xfrm>
              <a:off x="1124016" y="2335888"/>
              <a:ext cx="4857683" cy="989568"/>
            </a:xfrm>
            <a:prstGeom prst="rect">
              <a:avLst/>
            </a:prstGeom>
            <a:solidFill>
              <a:srgbClr val="0B3C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49CA34A7-FB54-0320-5138-EE898B179DEA}"/>
                </a:ext>
              </a:extLst>
            </p:cNvPr>
            <p:cNvSpPr txBox="1"/>
            <p:nvPr/>
          </p:nvSpPr>
          <p:spPr>
            <a:xfrm>
              <a:off x="1098618" y="2449277"/>
              <a:ext cx="4857684" cy="8331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5F5F5"/>
                  </a:solidFill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r>
                <a:rPr lang="en-US" sz="2400" dirty="0"/>
                <a:t>SCIM PROVISIONING WAS ENABLED TO AUTOMATICALLY SYNC USERS AND GROUPS FROM MICROSOFT ENTRA ID TO AWS.</a:t>
              </a:r>
              <a:endParaRPr lang="en-US" altLang="en-US" sz="24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xmlns="" id="{69BDCBEE-2871-C99A-4A6C-82F189B8C4B3}"/>
                </a:ext>
              </a:extLst>
            </p:cNvPr>
            <p:cNvSpPr/>
            <p:nvPr/>
          </p:nvSpPr>
          <p:spPr>
            <a:xfrm>
              <a:off x="393701" y="2335888"/>
              <a:ext cx="679520" cy="989568"/>
            </a:xfrm>
            <a:prstGeom prst="rect">
              <a:avLst/>
            </a:prstGeom>
            <a:solidFill>
              <a:srgbClr val="C684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68452"/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xmlns="" id="{D1F9326C-5EA3-5C5A-E598-906CC16A2AB0}"/>
              </a:ext>
            </a:extLst>
          </p:cNvPr>
          <p:cNvGrpSpPr/>
          <p:nvPr/>
        </p:nvGrpSpPr>
        <p:grpSpPr>
          <a:xfrm>
            <a:off x="393701" y="4498239"/>
            <a:ext cx="5587997" cy="1864461"/>
            <a:chOff x="393701" y="3679090"/>
            <a:chExt cx="5587997" cy="989568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xmlns="" id="{DF73D9B0-9455-54D9-2CCA-52E9D6449E04}"/>
                </a:ext>
              </a:extLst>
            </p:cNvPr>
            <p:cNvSpPr/>
            <p:nvPr/>
          </p:nvSpPr>
          <p:spPr>
            <a:xfrm>
              <a:off x="1124013" y="3679090"/>
              <a:ext cx="4857685" cy="989568"/>
            </a:xfrm>
            <a:prstGeom prst="rect">
              <a:avLst/>
            </a:prstGeom>
            <a:solidFill>
              <a:srgbClr val="0B3C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6BF0A93B-74D6-EF26-726B-4212DA3DC2C9}"/>
                </a:ext>
              </a:extLst>
            </p:cNvPr>
            <p:cNvSpPr txBox="1"/>
            <p:nvPr/>
          </p:nvSpPr>
          <p:spPr>
            <a:xfrm>
              <a:off x="1124011" y="3962038"/>
              <a:ext cx="4857684" cy="4410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5F5F5"/>
                  </a:solidFill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r>
                <a:rPr lang="en-US" sz="2400" dirty="0"/>
                <a:t>USERS CREATED MANUALLY VIA MICROSOFT 365 ADMIN CENTER</a:t>
              </a:r>
              <a:endParaRPr lang="en-US" altLang="en-US" sz="2400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xmlns="" id="{EDB9FB83-FBFA-7518-56C8-03A286D849E5}"/>
                </a:ext>
              </a:extLst>
            </p:cNvPr>
            <p:cNvSpPr/>
            <p:nvPr/>
          </p:nvSpPr>
          <p:spPr>
            <a:xfrm>
              <a:off x="393701" y="3679090"/>
              <a:ext cx="679520" cy="989568"/>
            </a:xfrm>
            <a:prstGeom prst="rect">
              <a:avLst/>
            </a:prstGeom>
            <a:solidFill>
              <a:srgbClr val="C684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xmlns="" id="{3FD7F818-A578-C02A-6212-EDA53169E873}"/>
              </a:ext>
            </a:extLst>
          </p:cNvPr>
          <p:cNvGrpSpPr/>
          <p:nvPr/>
        </p:nvGrpSpPr>
        <p:grpSpPr>
          <a:xfrm>
            <a:off x="6210301" y="2351640"/>
            <a:ext cx="5587998" cy="1864463"/>
            <a:chOff x="6210302" y="2332874"/>
            <a:chExt cx="5587998" cy="98956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xmlns="" id="{E5131096-480E-DB0D-CFE2-7A672ACB85CD}"/>
                </a:ext>
              </a:extLst>
            </p:cNvPr>
            <p:cNvSpPr/>
            <p:nvPr/>
          </p:nvSpPr>
          <p:spPr>
            <a:xfrm>
              <a:off x="6940617" y="2332874"/>
              <a:ext cx="4857683" cy="989568"/>
            </a:xfrm>
            <a:prstGeom prst="rect">
              <a:avLst/>
            </a:prstGeom>
            <a:solidFill>
              <a:srgbClr val="0B3C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xmlns="" id="{43ADF7C6-90E0-1CFB-D960-ED453729E852}"/>
                </a:ext>
              </a:extLst>
            </p:cNvPr>
            <p:cNvSpPr txBox="1"/>
            <p:nvPr/>
          </p:nvSpPr>
          <p:spPr>
            <a:xfrm>
              <a:off x="6940612" y="2616389"/>
              <a:ext cx="4857686" cy="4410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F5F5F5"/>
                  </a:solidFill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r>
                <a:rPr lang="en-US" sz="2400" dirty="0"/>
                <a:t>ENTRA USED TO </a:t>
              </a:r>
              <a:r>
                <a:rPr lang="en-US" sz="2400" dirty="0" smtClean="0"/>
                <a:t>SIMULATE GROUPS </a:t>
              </a:r>
              <a:r>
                <a:rPr lang="en-US" sz="2400" dirty="0"/>
                <a:t>ROLE-BASED ACCESS</a:t>
              </a:r>
              <a:endParaRPr lang="en-US" altLang="en-US" sz="2400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xmlns="" id="{A04E3C9B-435E-2564-3836-3E94E59D9D48}"/>
                </a:ext>
              </a:extLst>
            </p:cNvPr>
            <p:cNvSpPr/>
            <p:nvPr/>
          </p:nvSpPr>
          <p:spPr>
            <a:xfrm>
              <a:off x="6210302" y="2332875"/>
              <a:ext cx="679520" cy="989568"/>
            </a:xfrm>
            <a:prstGeom prst="rect">
              <a:avLst/>
            </a:prstGeom>
            <a:solidFill>
              <a:srgbClr val="C684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68452"/>
                </a:solidFill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xmlns="" id="{459513A3-3C6B-B3D6-FA13-7BD1867DBBD7}"/>
              </a:ext>
            </a:extLst>
          </p:cNvPr>
          <p:cNvGrpSpPr/>
          <p:nvPr/>
        </p:nvGrpSpPr>
        <p:grpSpPr>
          <a:xfrm>
            <a:off x="6210302" y="4495226"/>
            <a:ext cx="5587998" cy="1864461"/>
            <a:chOff x="6210302" y="3676077"/>
            <a:chExt cx="5587998" cy="989568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xmlns="" id="{1A79688C-E69F-A3F7-B8FE-4EE71FC41751}"/>
                </a:ext>
              </a:extLst>
            </p:cNvPr>
            <p:cNvSpPr/>
            <p:nvPr/>
          </p:nvSpPr>
          <p:spPr>
            <a:xfrm>
              <a:off x="6940615" y="3676077"/>
              <a:ext cx="4857685" cy="989568"/>
            </a:xfrm>
            <a:prstGeom prst="rect">
              <a:avLst/>
            </a:prstGeom>
            <a:solidFill>
              <a:srgbClr val="0B3C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xmlns="" id="{2A519FAB-228D-346B-0D0C-72180D7C735C}"/>
                </a:ext>
              </a:extLst>
            </p:cNvPr>
            <p:cNvSpPr txBox="1"/>
            <p:nvPr/>
          </p:nvSpPr>
          <p:spPr>
            <a:xfrm>
              <a:off x="6940611" y="3950333"/>
              <a:ext cx="4857687" cy="4410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F5F5F5"/>
                  </a:solidFill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r>
                <a:rPr lang="en-US" sz="2400" dirty="0"/>
                <a:t>LOCATION FIELD ADDED TO ENFORCE CONDITIONAL ACCESS</a:t>
              </a:r>
              <a:endParaRPr lang="en-US" altLang="en-US" sz="2400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xmlns="" id="{EFF6FC77-1A36-FB65-FCC7-27A47AB1C424}"/>
                </a:ext>
              </a:extLst>
            </p:cNvPr>
            <p:cNvSpPr/>
            <p:nvPr/>
          </p:nvSpPr>
          <p:spPr>
            <a:xfrm>
              <a:off x="6210302" y="3676077"/>
              <a:ext cx="679517" cy="989568"/>
            </a:xfrm>
            <a:prstGeom prst="rect">
              <a:avLst/>
            </a:prstGeom>
            <a:solidFill>
              <a:srgbClr val="C684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79294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8ABAEB5-26AB-CD4A-6462-237078C33DB9}"/>
              </a:ext>
            </a:extLst>
          </p:cNvPr>
          <p:cNvSpPr txBox="1"/>
          <p:nvPr/>
        </p:nvSpPr>
        <p:spPr>
          <a:xfrm>
            <a:off x="972437" y="905067"/>
            <a:ext cx="37439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 dirty="0">
                <a:solidFill>
                  <a:srgbClr val="0B3C5D"/>
                </a:solidFill>
              </a:rPr>
              <a:t>COMPLIANCE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 dirty="0">
                <a:solidFill>
                  <a:srgbClr val="0B3C5D"/>
                </a:solidFill>
              </a:rPr>
              <a:t>MAPPING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08FECCA3-8FCE-0A34-BA8F-D5B282506E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891747"/>
              </p:ext>
            </p:extLst>
          </p:nvPr>
        </p:nvGraphicFramePr>
        <p:xfrm>
          <a:off x="810126" y="2563654"/>
          <a:ext cx="10515600" cy="22860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xmlns="" val="211923629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xmlns="" val="828698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68452"/>
                          </a:solidFill>
                        </a:rPr>
                        <a:t>STANDARD</a:t>
                      </a:r>
                      <a:endParaRPr lang="en-US" dirty="0">
                        <a:solidFill>
                          <a:srgbClr val="C6845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68452"/>
                          </a:solidFill>
                        </a:rPr>
                        <a:t>HOW WE MET IT</a:t>
                      </a:r>
                      <a:endParaRPr lang="en-US" dirty="0">
                        <a:solidFill>
                          <a:srgbClr val="C6845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806170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B3C5D"/>
                          </a:solidFill>
                        </a:rPr>
                        <a:t>DORA</a:t>
                      </a:r>
                      <a:endParaRPr lang="en-US" dirty="0">
                        <a:solidFill>
                          <a:srgbClr val="0B3C5D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Used SSO with Microsoft Entra ID; no credentials stored in AWS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603128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B3C5D"/>
                          </a:solidFill>
                        </a:rPr>
                        <a:t>ISO 27001</a:t>
                      </a:r>
                      <a:endParaRPr lang="en-US" dirty="0">
                        <a:solidFill>
                          <a:srgbClr val="0B3C5D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Applied MFA, Conditional Access, and role-based access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666402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B3C5D"/>
                          </a:solidFill>
                        </a:rPr>
                        <a:t>NIST 800-53</a:t>
                      </a:r>
                      <a:endParaRPr lang="en-US" dirty="0">
                        <a:solidFill>
                          <a:srgbClr val="0B3C5D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 mappings aligned with identity-based access controls (IA family)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825696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4F930F2-2F89-B1BD-05BF-427C52A1D753}"/>
              </a:ext>
            </a:extLst>
          </p:cNvPr>
          <p:cNvSpPr txBox="1"/>
          <p:nvPr/>
        </p:nvSpPr>
        <p:spPr>
          <a:xfrm>
            <a:off x="810126" y="4984746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These standards help validate our architecture as secure, identity-driven, and compliant with Zero Trust principles.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D4DF30F3-8585-330B-73E6-F556554B5E0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079" y="0"/>
            <a:ext cx="7054921" cy="47032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075F2358-C9D3-9AF0-76B2-F4C2E603D12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2170471"/>
            <a:ext cx="7054921" cy="470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400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>
            <a:extLst>
              <a:ext uri="{FF2B5EF4-FFF2-40B4-BE49-F238E27FC236}">
                <a16:creationId xmlns:a16="http://schemas.microsoft.com/office/drawing/2014/main" xmlns="" id="{8E2F069D-44A8-A72F-82D9-6D668F68C3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079" y="0"/>
            <a:ext cx="7054921" cy="470328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xmlns="" id="{54CD5539-439D-04CF-A573-59FA233A0B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2170471"/>
            <a:ext cx="7054921" cy="470328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07C9B6D5-9512-F095-BD36-A0411FB53625}"/>
              </a:ext>
            </a:extLst>
          </p:cNvPr>
          <p:cNvSpPr txBox="1"/>
          <p:nvPr/>
        </p:nvSpPr>
        <p:spPr>
          <a:xfrm>
            <a:off x="972437" y="905067"/>
            <a:ext cx="41646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 dirty="0">
                <a:solidFill>
                  <a:srgbClr val="0B3C5D"/>
                </a:solidFill>
              </a:rPr>
              <a:t>TEAM REFLECTION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35D5FEAA-C0FF-834F-6A46-32BA1E181B2A}"/>
              </a:ext>
            </a:extLst>
          </p:cNvPr>
          <p:cNvGrpSpPr/>
          <p:nvPr/>
        </p:nvGrpSpPr>
        <p:grpSpPr>
          <a:xfrm>
            <a:off x="1207169" y="2246068"/>
            <a:ext cx="3115972" cy="1861029"/>
            <a:chOff x="596770" y="2335888"/>
            <a:chExt cx="9766430" cy="40011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xmlns="" id="{6FA3D216-54FB-81AE-4009-F7DBB70DCC5C}"/>
                </a:ext>
              </a:extLst>
            </p:cNvPr>
            <p:cNvSpPr/>
            <p:nvPr/>
          </p:nvSpPr>
          <p:spPr>
            <a:xfrm>
              <a:off x="972436" y="2335888"/>
              <a:ext cx="9390764" cy="400110"/>
            </a:xfrm>
            <a:prstGeom prst="rect">
              <a:avLst/>
            </a:prstGeom>
            <a:solidFill>
              <a:srgbClr val="0B3C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907D135C-114C-205C-563C-1DDDA03112B3}"/>
                </a:ext>
              </a:extLst>
            </p:cNvPr>
            <p:cNvSpPr txBox="1"/>
            <p:nvPr/>
          </p:nvSpPr>
          <p:spPr>
            <a:xfrm>
              <a:off x="1082501" y="2393676"/>
              <a:ext cx="9170632" cy="2845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solidFill>
                    <a:srgbClr val="F5F5F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WE DEEPENED OUR UNDERSTANDING OF HOW SAML WORKS BETWEEN IDENTITY PROVIDERS AND AWS</a:t>
              </a:r>
              <a:endParaRPr lang="en-US" altLang="en-US" sz="1600" b="1" dirty="0">
                <a:solidFill>
                  <a:srgbClr val="F5F5F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xmlns="" id="{169818A6-9222-E5D4-0E55-D09D7485CCAE}"/>
                </a:ext>
              </a:extLst>
            </p:cNvPr>
            <p:cNvSpPr/>
            <p:nvPr/>
          </p:nvSpPr>
          <p:spPr>
            <a:xfrm>
              <a:off x="596770" y="2335888"/>
              <a:ext cx="375667" cy="40011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68452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207F6806-5655-45A4-4526-DB6AF276E733}"/>
              </a:ext>
            </a:extLst>
          </p:cNvPr>
          <p:cNvGrpSpPr/>
          <p:nvPr/>
        </p:nvGrpSpPr>
        <p:grpSpPr>
          <a:xfrm>
            <a:off x="4448613" y="2249259"/>
            <a:ext cx="2996117" cy="1861029"/>
            <a:chOff x="596770" y="2966490"/>
            <a:chExt cx="9766430" cy="40011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xmlns="" id="{ED13B278-0C74-FD8B-0691-918472C3809E}"/>
                </a:ext>
              </a:extLst>
            </p:cNvPr>
            <p:cNvSpPr/>
            <p:nvPr/>
          </p:nvSpPr>
          <p:spPr>
            <a:xfrm>
              <a:off x="972436" y="2966490"/>
              <a:ext cx="9390764" cy="400110"/>
            </a:xfrm>
            <a:prstGeom prst="rect">
              <a:avLst/>
            </a:prstGeom>
            <a:solidFill>
              <a:srgbClr val="0B3C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CDC94D0F-C42F-5B3B-EE86-4B3086881A57}"/>
                </a:ext>
              </a:extLst>
            </p:cNvPr>
            <p:cNvSpPr txBox="1"/>
            <p:nvPr/>
          </p:nvSpPr>
          <p:spPr>
            <a:xfrm>
              <a:off x="1082501" y="3050060"/>
              <a:ext cx="9170633" cy="2315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r>
                <a:rPr lang="en-US" dirty="0">
                  <a:solidFill>
                    <a:srgbClr val="F5F5F5"/>
                  </a:solidFill>
                </a:rPr>
                <a:t>WE PRACTICED REAL RBAC IMPLEMENTATION USING ENTRA GROUPS AND IAM ROLES</a:t>
              </a:r>
              <a:endParaRPr lang="en-US" altLang="en-US" dirty="0">
                <a:solidFill>
                  <a:srgbClr val="F5F5F5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xmlns="" id="{ABEBB6AA-258C-37A1-27DA-CEEDA35B4C06}"/>
                </a:ext>
              </a:extLst>
            </p:cNvPr>
            <p:cNvSpPr/>
            <p:nvPr/>
          </p:nvSpPr>
          <p:spPr>
            <a:xfrm>
              <a:off x="596770" y="2966490"/>
              <a:ext cx="375667" cy="40011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68452"/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xmlns="" id="{6710FBCA-07BC-2198-3BD2-EF70BCC05CA9}"/>
              </a:ext>
            </a:extLst>
          </p:cNvPr>
          <p:cNvGrpSpPr/>
          <p:nvPr/>
        </p:nvGrpSpPr>
        <p:grpSpPr>
          <a:xfrm>
            <a:off x="7628143" y="2246069"/>
            <a:ext cx="2996117" cy="1861028"/>
            <a:chOff x="596770" y="3597092"/>
            <a:chExt cx="9766430" cy="40011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xmlns="" id="{3B660C2F-6D32-4511-A5FC-89132CF44136}"/>
                </a:ext>
              </a:extLst>
            </p:cNvPr>
            <p:cNvSpPr/>
            <p:nvPr/>
          </p:nvSpPr>
          <p:spPr>
            <a:xfrm>
              <a:off x="972436" y="3597092"/>
              <a:ext cx="9390764" cy="400110"/>
            </a:xfrm>
            <a:prstGeom prst="rect">
              <a:avLst/>
            </a:prstGeom>
            <a:solidFill>
              <a:srgbClr val="0B3C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125D1297-FAE2-E736-60EA-030634EE7940}"/>
                </a:ext>
              </a:extLst>
            </p:cNvPr>
            <p:cNvSpPr txBox="1"/>
            <p:nvPr/>
          </p:nvSpPr>
          <p:spPr>
            <a:xfrm>
              <a:off x="1192567" y="3681348"/>
              <a:ext cx="9170633" cy="2315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r>
                <a:rPr lang="en-US" dirty="0">
                  <a:solidFill>
                    <a:srgbClr val="F5F5F5"/>
                  </a:solidFill>
                </a:rPr>
                <a:t>WE LEARNED TO TROUBLESHOOT TRUST RELATIONSHIP ERRORS AND METADATA ISSUES</a:t>
              </a:r>
              <a:endParaRPr lang="en-US" altLang="en-US" dirty="0">
                <a:solidFill>
                  <a:srgbClr val="F5F5F5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xmlns="" id="{A009EB07-31D4-1EDA-4845-F71284D85361}"/>
                </a:ext>
              </a:extLst>
            </p:cNvPr>
            <p:cNvSpPr/>
            <p:nvPr/>
          </p:nvSpPr>
          <p:spPr>
            <a:xfrm>
              <a:off x="596770" y="3597092"/>
              <a:ext cx="375667" cy="40011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68452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xmlns="" id="{BD5B42F1-92D3-C483-3ED4-2AEF7F5D7A57}"/>
              </a:ext>
            </a:extLst>
          </p:cNvPr>
          <p:cNvGrpSpPr/>
          <p:nvPr/>
        </p:nvGrpSpPr>
        <p:grpSpPr>
          <a:xfrm>
            <a:off x="1212785" y="4141065"/>
            <a:ext cx="3115972" cy="1811867"/>
            <a:chOff x="596770" y="4227694"/>
            <a:chExt cx="9766430" cy="40011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xmlns="" id="{70C2C137-B37F-F953-9A1F-C6B0B1D27163}"/>
                </a:ext>
              </a:extLst>
            </p:cNvPr>
            <p:cNvSpPr/>
            <p:nvPr/>
          </p:nvSpPr>
          <p:spPr>
            <a:xfrm>
              <a:off x="972436" y="4227694"/>
              <a:ext cx="9390764" cy="400110"/>
            </a:xfrm>
            <a:prstGeom prst="rect">
              <a:avLst/>
            </a:prstGeom>
            <a:solidFill>
              <a:srgbClr val="0B3C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707A9553-3263-9247-3B88-474227760200}"/>
                </a:ext>
              </a:extLst>
            </p:cNvPr>
            <p:cNvSpPr txBox="1"/>
            <p:nvPr/>
          </p:nvSpPr>
          <p:spPr>
            <a:xfrm>
              <a:off x="1064895" y="4281622"/>
              <a:ext cx="9170632" cy="2922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solidFill>
                    <a:srgbClr val="F5F5F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EACH MEMBER CONTRIBUTED MEANINGFULLY — FROM SETUP TO DOCUMENTATION</a:t>
              </a:r>
              <a:endParaRPr lang="en-US" altLang="en-US" sz="1600" b="1" dirty="0">
                <a:solidFill>
                  <a:srgbClr val="F5F5F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xmlns="" id="{4B676F97-A437-3257-AA32-0B80407243CE}"/>
                </a:ext>
              </a:extLst>
            </p:cNvPr>
            <p:cNvSpPr/>
            <p:nvPr/>
          </p:nvSpPr>
          <p:spPr>
            <a:xfrm>
              <a:off x="596770" y="4227694"/>
              <a:ext cx="375667" cy="40011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68452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xmlns="" id="{8A16A719-715D-4418-26C4-68EB7629740C}"/>
              </a:ext>
            </a:extLst>
          </p:cNvPr>
          <p:cNvGrpSpPr/>
          <p:nvPr/>
        </p:nvGrpSpPr>
        <p:grpSpPr>
          <a:xfrm>
            <a:off x="4448613" y="4141065"/>
            <a:ext cx="2996117" cy="1811867"/>
            <a:chOff x="596770" y="4858296"/>
            <a:chExt cx="9766430" cy="40011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xmlns="" id="{10233A45-260A-4C07-9AE2-CB3A5D096ECB}"/>
                </a:ext>
              </a:extLst>
            </p:cNvPr>
            <p:cNvSpPr/>
            <p:nvPr/>
          </p:nvSpPr>
          <p:spPr>
            <a:xfrm>
              <a:off x="972436" y="4858296"/>
              <a:ext cx="9390764" cy="400110"/>
            </a:xfrm>
            <a:prstGeom prst="rect">
              <a:avLst/>
            </a:prstGeom>
            <a:solidFill>
              <a:srgbClr val="0B3C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xmlns="" id="{87331CCC-01F5-E2C4-9ACA-39E58C80C8FE}"/>
                </a:ext>
              </a:extLst>
            </p:cNvPr>
            <p:cNvSpPr txBox="1"/>
            <p:nvPr/>
          </p:nvSpPr>
          <p:spPr>
            <a:xfrm>
              <a:off x="1082501" y="4912224"/>
              <a:ext cx="9170633" cy="2922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r>
                <a:rPr lang="en-US" dirty="0">
                  <a:solidFill>
                    <a:srgbClr val="F5F5F5"/>
                  </a:solidFill>
                </a:rPr>
                <a:t>COLLABORATING ON ACCESS CONTROL REINFORCED OUR APPRECIATION FOR ZERO TRUST ARCHITECTURE</a:t>
              </a:r>
              <a:endParaRPr lang="en-US" altLang="en-US" dirty="0">
                <a:solidFill>
                  <a:srgbClr val="F5F5F5"/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xmlns="" id="{9424BA23-ECE6-D04D-FA2C-AC3A8BCDA885}"/>
                </a:ext>
              </a:extLst>
            </p:cNvPr>
            <p:cNvSpPr/>
            <p:nvPr/>
          </p:nvSpPr>
          <p:spPr>
            <a:xfrm>
              <a:off x="596770" y="4858296"/>
              <a:ext cx="375667" cy="40011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68452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xmlns="" id="{731097B3-22F8-A342-920B-2B3CBEBE669C}"/>
              </a:ext>
            </a:extLst>
          </p:cNvPr>
          <p:cNvGrpSpPr/>
          <p:nvPr/>
        </p:nvGrpSpPr>
        <p:grpSpPr>
          <a:xfrm>
            <a:off x="7628143" y="4141065"/>
            <a:ext cx="2996117" cy="1811867"/>
            <a:chOff x="596770" y="5488898"/>
            <a:chExt cx="9766430" cy="40011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xmlns="" id="{748DDF24-8142-2A3A-3317-893A74B821E0}"/>
                </a:ext>
              </a:extLst>
            </p:cNvPr>
            <p:cNvSpPr/>
            <p:nvPr/>
          </p:nvSpPr>
          <p:spPr>
            <a:xfrm>
              <a:off x="972436" y="5488898"/>
              <a:ext cx="9390764" cy="400110"/>
            </a:xfrm>
            <a:prstGeom prst="rect">
              <a:avLst/>
            </a:prstGeom>
            <a:solidFill>
              <a:srgbClr val="0B3C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xmlns="" id="{67301ECC-FCF8-C5D0-E653-484AF68F3EB7}"/>
                </a:ext>
              </a:extLst>
            </p:cNvPr>
            <p:cNvSpPr txBox="1"/>
            <p:nvPr/>
          </p:nvSpPr>
          <p:spPr>
            <a:xfrm>
              <a:off x="1082501" y="5542826"/>
              <a:ext cx="9170633" cy="2922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r>
                <a:rPr lang="en-US" dirty="0">
                  <a:solidFill>
                    <a:srgbClr val="F5F5F5"/>
                  </a:solidFill>
                </a:rPr>
                <a:t>WE GOT BETTER AT NAVIGATING REAL ADMIN PORTALS AND CONFIGURATIONS (NOT JUST THEORY)</a:t>
              </a:r>
              <a:endParaRPr lang="en-US" altLang="en-US" dirty="0">
                <a:solidFill>
                  <a:srgbClr val="F5F5F5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xmlns="" id="{25EC2E39-7C8E-4252-0FF1-3310116B6F77}"/>
                </a:ext>
              </a:extLst>
            </p:cNvPr>
            <p:cNvSpPr/>
            <p:nvPr/>
          </p:nvSpPr>
          <p:spPr>
            <a:xfrm>
              <a:off x="596770" y="5488898"/>
              <a:ext cx="375667" cy="40011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6845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6568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999CB9BD-601D-497F-5B67-F9DD72B2CD3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079" y="0"/>
            <a:ext cx="7054921" cy="470328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3F8FDD38-FA43-EFB7-3713-92EF48A8D90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2170471"/>
            <a:ext cx="7054921" cy="47032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F5B040D-A2A0-3C64-3F60-6149D12DED56}"/>
              </a:ext>
            </a:extLst>
          </p:cNvPr>
          <p:cNvSpPr txBox="1"/>
          <p:nvPr/>
        </p:nvSpPr>
        <p:spPr>
          <a:xfrm>
            <a:off x="972436" y="905067"/>
            <a:ext cx="46390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5F5F5"/>
                </a:solidFill>
              </a:rPr>
              <a:t>MEET THE TEAM – </a:t>
            </a:r>
            <a:r>
              <a:rPr lang="en-US" sz="3600" dirty="0">
                <a:solidFill>
                  <a:srgbClr val="F5F5F5"/>
                </a:solidFill>
              </a:rPr>
              <a:t>Helix Group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BF6DDCD-306E-0267-1BBB-CC0DAFA5C84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79" t="41812" r="46" b="42740"/>
          <a:stretch>
            <a:fillRect/>
          </a:stretch>
        </p:blipFill>
        <p:spPr>
          <a:xfrm>
            <a:off x="806918" y="1832081"/>
            <a:ext cx="10578164" cy="24088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576A9031-14D2-D538-DA5A-9401E100850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79" t="41812" r="24418" b="42740"/>
          <a:stretch>
            <a:fillRect/>
          </a:stretch>
        </p:blipFill>
        <p:spPr>
          <a:xfrm>
            <a:off x="2067828" y="4240934"/>
            <a:ext cx="8056344" cy="240885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xmlns="" id="{713B61D6-D0C1-5AA0-D458-FE97E023837F}"/>
              </a:ext>
            </a:extLst>
          </p:cNvPr>
          <p:cNvGrpSpPr/>
          <p:nvPr/>
        </p:nvGrpSpPr>
        <p:grpSpPr>
          <a:xfrm>
            <a:off x="6429166" y="2294664"/>
            <a:ext cx="2241929" cy="2210084"/>
            <a:chOff x="6429166" y="2294664"/>
            <a:chExt cx="2241929" cy="221008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F595FD7D-D19B-680B-27FC-736AF5AF0204}"/>
                </a:ext>
              </a:extLst>
            </p:cNvPr>
            <p:cNvSpPr txBox="1"/>
            <p:nvPr/>
          </p:nvSpPr>
          <p:spPr>
            <a:xfrm>
              <a:off x="6429166" y="3858417"/>
              <a:ext cx="224192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pc="300" dirty="0">
                  <a:solidFill>
                    <a:srgbClr val="C68452"/>
                  </a:solidFill>
                  <a:latin typeface="Segoe UI Semibold" panose="020B0702040204020203" pitchFamily="34" charset="0"/>
                  <a:ea typeface="Calibri" panose="020F0502020204030204" pitchFamily="34" charset="0"/>
                  <a:cs typeface="Segoe UI Semibold" panose="020B0702040204020203" pitchFamily="34" charset="0"/>
                </a:rPr>
                <a:t>FOLUSHO OWOEYE</a:t>
              </a:r>
              <a:endParaRPr lang="en-US" spc="300" dirty="0">
                <a:solidFill>
                  <a:srgbClr val="C6845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xmlns="" id="{FACBE678-DC7C-20F8-78E2-13E3C6D807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5403"/>
            <a:stretch>
              <a:fillRect/>
            </a:stretch>
          </p:blipFill>
          <p:spPr>
            <a:xfrm>
              <a:off x="6728593" y="2294664"/>
              <a:ext cx="1534871" cy="1616966"/>
            </a:xfrm>
            <a:prstGeom prst="ellipse">
              <a:avLst/>
            </a:prstGeom>
            <a:ln w="63500" cap="rnd">
              <a:solidFill>
                <a:srgbClr val="0B3C5D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xmlns="" id="{9E72C4C9-52DA-7320-01C4-92B4D5E4F4A9}"/>
              </a:ext>
            </a:extLst>
          </p:cNvPr>
          <p:cNvGrpSpPr/>
          <p:nvPr/>
        </p:nvGrpSpPr>
        <p:grpSpPr>
          <a:xfrm>
            <a:off x="9285811" y="2142425"/>
            <a:ext cx="1915771" cy="2380808"/>
            <a:chOff x="9285811" y="2142425"/>
            <a:chExt cx="1915771" cy="2380808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xmlns="" id="{746284F3-582A-7EB5-104E-6856D03BB090}"/>
                </a:ext>
              </a:extLst>
            </p:cNvPr>
            <p:cNvGrpSpPr/>
            <p:nvPr/>
          </p:nvGrpSpPr>
          <p:grpSpPr>
            <a:xfrm>
              <a:off x="9285811" y="2255541"/>
              <a:ext cx="1915771" cy="2267692"/>
              <a:chOff x="9285811" y="2255541"/>
              <a:chExt cx="1915771" cy="2267692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="" id="{A594E35A-29BF-7A3C-6414-0B02AC64712E}"/>
                  </a:ext>
                </a:extLst>
              </p:cNvPr>
              <p:cNvSpPr txBox="1"/>
              <p:nvPr/>
            </p:nvSpPr>
            <p:spPr>
              <a:xfrm>
                <a:off x="9285811" y="3876902"/>
                <a:ext cx="191577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pc="300" dirty="0">
                    <a:solidFill>
                      <a:srgbClr val="C68452"/>
                    </a:solidFill>
                    <a:latin typeface="Segoe UI Semibold" panose="020B0702040204020203" pitchFamily="34" charset="0"/>
                    <a:ea typeface="Calibri" panose="020F0502020204030204" pitchFamily="34" charset="0"/>
                    <a:cs typeface="Segoe UI Semibold" panose="020B0702040204020203" pitchFamily="34" charset="0"/>
                  </a:rPr>
                  <a:t>FRANCA IBUZO</a:t>
                </a:r>
                <a:endParaRPr lang="en-US" spc="300" dirty="0">
                  <a:solidFill>
                    <a:srgbClr val="C68452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xmlns="" id="{862749B2-2EA3-C235-075F-990D7B8D0E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" b="99000" l="2353" r="99412">
                            <a14:foregroundMark x1="61176" y1="4500" x2="61176" y2="4500"/>
                            <a14:foregroundMark x1="30588" y1="2500" x2="30588" y2="2500"/>
                            <a14:foregroundMark x1="3529" y1="25500" x2="3529" y2="25500"/>
                            <a14:foregroundMark x1="44118" y1="95000" x2="44118" y2="95000"/>
                            <a14:foregroundMark x1="78235" y1="99000" x2="78235" y2="99000"/>
                            <a14:foregroundMark x1="93529" y1="46500" x2="93529" y2="46500"/>
                            <a14:foregroundMark x1="98235" y1="45000" x2="98235" y2="45000"/>
                            <a14:foregroundMark x1="99412" y1="52500" x2="99412" y2="52500"/>
                            <a14:foregroundMark x1="58824" y1="1000" x2="58824" y2="1000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80946" y="2255541"/>
                <a:ext cx="1325503" cy="1559415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9E805F3E-E3E2-5DFF-8578-EB69F4657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527" r="4999" b="36752"/>
            <a:stretch>
              <a:fillRect/>
            </a:stretch>
          </p:blipFill>
          <p:spPr>
            <a:xfrm>
              <a:off x="9387751" y="2142425"/>
              <a:ext cx="1625923" cy="1788165"/>
            </a:xfrm>
            <a:prstGeom prst="ellipse">
              <a:avLst/>
            </a:prstGeom>
            <a:ln w="63500" cap="rnd">
              <a:solidFill>
                <a:srgbClr val="0B3C5D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xmlns="" id="{3483964F-16EE-00AB-7545-D379D667A51F}"/>
              </a:ext>
            </a:extLst>
          </p:cNvPr>
          <p:cNvGrpSpPr/>
          <p:nvPr/>
        </p:nvGrpSpPr>
        <p:grpSpPr>
          <a:xfrm>
            <a:off x="2429633" y="4504749"/>
            <a:ext cx="1915771" cy="2325868"/>
            <a:chOff x="2429633" y="4570463"/>
            <a:chExt cx="1915771" cy="2260153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478F98E3-7B45-E3DE-B7E5-EF443FE84A6B}"/>
                </a:ext>
              </a:extLst>
            </p:cNvPr>
            <p:cNvSpPr txBox="1"/>
            <p:nvPr/>
          </p:nvSpPr>
          <p:spPr>
            <a:xfrm>
              <a:off x="2429633" y="6184285"/>
              <a:ext cx="191577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pc="300" dirty="0">
                  <a:solidFill>
                    <a:srgbClr val="C68452"/>
                  </a:solidFill>
                  <a:latin typeface="Segoe UI Semibold" panose="020B0702040204020203" pitchFamily="34" charset="0"/>
                  <a:ea typeface="Calibri" panose="020F0502020204030204" pitchFamily="34" charset="0"/>
                  <a:cs typeface="Segoe UI Semibold" panose="020B0702040204020203" pitchFamily="34" charset="0"/>
                </a:rPr>
                <a:t>MOSES ANAWO</a:t>
              </a:r>
              <a:endParaRPr lang="en-US" spc="300" dirty="0">
                <a:solidFill>
                  <a:srgbClr val="C6845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xmlns="" id="{73FBB9F2-3C9E-648B-C7F7-02A198961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73256" y="4570463"/>
              <a:ext cx="1472341" cy="1566378"/>
            </a:xfrm>
            <a:prstGeom prst="ellipse">
              <a:avLst/>
            </a:prstGeom>
            <a:ln w="63500" cap="rnd">
              <a:solidFill>
                <a:srgbClr val="0B3C5D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xmlns="" id="{288FF106-31E0-7AFF-5AB2-5D0E748ADF9C}"/>
              </a:ext>
            </a:extLst>
          </p:cNvPr>
          <p:cNvGrpSpPr/>
          <p:nvPr/>
        </p:nvGrpSpPr>
        <p:grpSpPr>
          <a:xfrm>
            <a:off x="5138113" y="4551278"/>
            <a:ext cx="1915771" cy="2279338"/>
            <a:chOff x="5138113" y="4551278"/>
            <a:chExt cx="1915771" cy="2279338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F8D80845-98C9-013A-729A-74DC7D0F71AF}"/>
                </a:ext>
              </a:extLst>
            </p:cNvPr>
            <p:cNvSpPr txBox="1"/>
            <p:nvPr/>
          </p:nvSpPr>
          <p:spPr>
            <a:xfrm>
              <a:off x="5138113" y="6184285"/>
              <a:ext cx="191577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pc="300" dirty="0">
                  <a:solidFill>
                    <a:srgbClr val="C68452"/>
                  </a:solidFill>
                  <a:latin typeface="Segoe UI Semibold" panose="020B0702040204020203" pitchFamily="34" charset="0"/>
                  <a:ea typeface="Calibri" panose="020F0502020204030204" pitchFamily="34" charset="0"/>
                  <a:cs typeface="Segoe UI Semibold" panose="020B0702040204020203" pitchFamily="34" charset="0"/>
                </a:rPr>
                <a:t>NABILAH KAFI</a:t>
              </a:r>
              <a:endParaRPr lang="en-US" spc="300" dirty="0">
                <a:solidFill>
                  <a:srgbClr val="C6845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xmlns="" id="{E956C1A5-FD73-49F5-75CE-C2007A24166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20" r="6598" b="15682"/>
            <a:stretch>
              <a:fillRect/>
            </a:stretch>
          </p:blipFill>
          <p:spPr>
            <a:xfrm>
              <a:off x="5359850" y="4551278"/>
              <a:ext cx="1489184" cy="1585563"/>
            </a:xfrm>
            <a:prstGeom prst="ellipse">
              <a:avLst/>
            </a:prstGeom>
            <a:ln w="63500" cap="rnd">
              <a:solidFill>
                <a:srgbClr val="0B3C5D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xmlns="" id="{15FC6C2D-1807-2BDF-2E56-B7C4526DA9D7}"/>
              </a:ext>
            </a:extLst>
          </p:cNvPr>
          <p:cNvGrpSpPr/>
          <p:nvPr/>
        </p:nvGrpSpPr>
        <p:grpSpPr>
          <a:xfrm>
            <a:off x="7777473" y="4588199"/>
            <a:ext cx="1915771" cy="2218685"/>
            <a:chOff x="7777473" y="4588199"/>
            <a:chExt cx="1915771" cy="2218685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59CFB895-5734-3E6F-77A9-0DFD893D192D}"/>
                </a:ext>
              </a:extLst>
            </p:cNvPr>
            <p:cNvSpPr txBox="1"/>
            <p:nvPr/>
          </p:nvSpPr>
          <p:spPr>
            <a:xfrm>
              <a:off x="7777473" y="6160553"/>
              <a:ext cx="191577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pc="300" dirty="0">
                  <a:solidFill>
                    <a:srgbClr val="C68452"/>
                  </a:solidFill>
                  <a:latin typeface="Segoe UI Semibold" panose="020B0702040204020203" pitchFamily="34" charset="0"/>
                  <a:ea typeface="Calibri" panose="020F0502020204030204" pitchFamily="34" charset="0"/>
                  <a:cs typeface="Segoe UI Semibold" panose="020B0702040204020203" pitchFamily="34" charset="0"/>
                </a:rPr>
                <a:t>NGUSHA ORTI</a:t>
              </a:r>
              <a:endParaRPr lang="en-US" spc="300" dirty="0">
                <a:solidFill>
                  <a:srgbClr val="C6845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xmlns="" id="{895D51C8-4472-0CA4-DD3B-5A146E3CC3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0738" y="4588199"/>
              <a:ext cx="1629240" cy="1625845"/>
            </a:xfrm>
            <a:prstGeom prst="ellipse">
              <a:avLst/>
            </a:prstGeom>
            <a:ln w="63500" cap="rnd">
              <a:solidFill>
                <a:srgbClr val="0B3C5D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xmlns="" id="{5FA72C77-8EF0-0821-7C2F-8C0228E9FD3A}"/>
              </a:ext>
            </a:extLst>
          </p:cNvPr>
          <p:cNvGrpSpPr/>
          <p:nvPr/>
        </p:nvGrpSpPr>
        <p:grpSpPr>
          <a:xfrm>
            <a:off x="1188646" y="2263331"/>
            <a:ext cx="2091134" cy="2531960"/>
            <a:chOff x="1188646" y="2263331"/>
            <a:chExt cx="2091134" cy="253196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08CA2E73-CE3B-AED4-2186-A4D68A23F473}"/>
                </a:ext>
              </a:extLst>
            </p:cNvPr>
            <p:cNvSpPr txBox="1"/>
            <p:nvPr/>
          </p:nvSpPr>
          <p:spPr>
            <a:xfrm>
              <a:off x="1188646" y="3871961"/>
              <a:ext cx="2091134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spc="300" dirty="0">
                  <a:solidFill>
                    <a:srgbClr val="C68452"/>
                  </a:solidFill>
                  <a:effectLst/>
                  <a:latin typeface="Segoe UI Semibold" panose="020B0702040204020203" pitchFamily="34" charset="0"/>
                  <a:ea typeface="Calibri" panose="020F0502020204030204" pitchFamily="34" charset="0"/>
                  <a:cs typeface="Segoe UI Semibold" panose="020B0702040204020203" pitchFamily="34" charset="0"/>
                </a:rPr>
                <a:t>TITILAYO YUSUF - </a:t>
              </a:r>
            </a:p>
            <a:p>
              <a:pPr algn="ctr"/>
              <a:r>
                <a:rPr lang="en-US" sz="1800" spc="300" dirty="0">
                  <a:solidFill>
                    <a:srgbClr val="C68452"/>
                  </a:solidFill>
                  <a:effectLst/>
                  <a:latin typeface="Segoe UI Semibold" panose="020B0702040204020203" pitchFamily="34" charset="0"/>
                  <a:ea typeface="Calibri" panose="020F0502020204030204" pitchFamily="34" charset="0"/>
                  <a:cs typeface="Segoe UI Semibold" panose="020B0702040204020203" pitchFamily="34" charset="0"/>
                </a:rPr>
                <a:t>(TEAM LEAD) </a:t>
              </a:r>
              <a:endParaRPr lang="en-US" spc="300" dirty="0">
                <a:solidFill>
                  <a:srgbClr val="C6845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xmlns="" id="{351F049A-4FA4-05C8-2808-87E482D33C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89" r="9447" b="37027"/>
            <a:stretch>
              <a:fillRect/>
            </a:stretch>
          </p:blipFill>
          <p:spPr>
            <a:xfrm>
              <a:off x="1410757" y="2263331"/>
              <a:ext cx="1669714" cy="1608630"/>
            </a:xfrm>
            <a:prstGeom prst="ellipse">
              <a:avLst/>
            </a:prstGeom>
            <a:ln w="63500" cap="rnd">
              <a:solidFill>
                <a:srgbClr val="0B3C5D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xmlns="" id="{5C0E587E-73A4-514B-F601-0744C53EC334}"/>
              </a:ext>
            </a:extLst>
          </p:cNvPr>
          <p:cNvGrpSpPr/>
          <p:nvPr/>
        </p:nvGrpSpPr>
        <p:grpSpPr>
          <a:xfrm>
            <a:off x="3759331" y="2197549"/>
            <a:ext cx="2172151" cy="2323034"/>
            <a:chOff x="3759331" y="2197549"/>
            <a:chExt cx="2172151" cy="2323034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D7FCFD1F-719E-BAAA-A9BA-68C17D1AA3C7}"/>
                </a:ext>
              </a:extLst>
            </p:cNvPr>
            <p:cNvSpPr txBox="1"/>
            <p:nvPr/>
          </p:nvSpPr>
          <p:spPr>
            <a:xfrm>
              <a:off x="3759331" y="3874252"/>
              <a:ext cx="217215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pc="300" dirty="0">
                  <a:solidFill>
                    <a:srgbClr val="C68452"/>
                  </a:solidFill>
                  <a:latin typeface="Segoe UI Semibold" panose="020B0702040204020203" pitchFamily="34" charset="0"/>
                  <a:ea typeface="Calibri" panose="020F0502020204030204" pitchFamily="34" charset="0"/>
                  <a:cs typeface="Segoe UI Semibold" panose="020B0702040204020203" pitchFamily="34" charset="0"/>
                </a:rPr>
                <a:t>ADEMOLA IYANDA</a:t>
              </a:r>
              <a:endParaRPr lang="en-US" spc="300" dirty="0">
                <a:solidFill>
                  <a:srgbClr val="C6845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xmlns="" id="{F6947107-67C0-5439-1F77-E5BF1CF57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326"/>
            <a:stretch>
              <a:fillRect/>
            </a:stretch>
          </p:blipFill>
          <p:spPr>
            <a:xfrm>
              <a:off x="3993928" y="2197549"/>
              <a:ext cx="1638127" cy="1720068"/>
            </a:xfrm>
            <a:prstGeom prst="ellipse">
              <a:avLst/>
            </a:prstGeom>
            <a:ln w="63500" cap="rnd">
              <a:solidFill>
                <a:srgbClr val="0B3C5D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</p:grpSp>
    </p:spTree>
    <p:extLst>
      <p:ext uri="{BB962C8B-B14F-4D97-AF65-F5344CB8AC3E}">
        <p14:creationId xmlns:p14="http://schemas.microsoft.com/office/powerpoint/2010/main" val="437555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BF166CF-3FAA-1904-4EFD-98D3E7F7D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47702EA-DF81-420A-0F2A-2A062F7707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079" y="0"/>
            <a:ext cx="7054921" cy="470328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39B57DB0-EED8-FDC9-922F-67D059FCFC3E}"/>
              </a:ext>
            </a:extLst>
          </p:cNvPr>
          <p:cNvSpPr txBox="1"/>
          <p:nvPr/>
        </p:nvSpPr>
        <p:spPr>
          <a:xfrm>
            <a:off x="968340" y="2346028"/>
            <a:ext cx="920050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rgbClr val="0B3C5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YOU!</a:t>
            </a:r>
            <a:endParaRPr lang="en-US" sz="4400" b="1" dirty="0">
              <a:solidFill>
                <a:srgbClr val="0B3C5D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76448C47-1180-4D17-49F7-5734AA8C19DC}"/>
              </a:ext>
            </a:extLst>
          </p:cNvPr>
          <p:cNvSpPr txBox="1"/>
          <p:nvPr/>
        </p:nvSpPr>
        <p:spPr>
          <a:xfrm>
            <a:off x="968340" y="3138086"/>
            <a:ext cx="71199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B3C5D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We’re happy to take any questions.</a:t>
            </a:r>
            <a:endParaRPr lang="en-US" sz="2800" dirty="0">
              <a:solidFill>
                <a:srgbClr val="0B3C5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6A85BDB9-5AFE-C8C7-60B0-0F998CA2FEDF}"/>
              </a:ext>
            </a:extLst>
          </p:cNvPr>
          <p:cNvCxnSpPr>
            <a:cxnSpLocks/>
          </p:cNvCxnSpPr>
          <p:nvPr/>
        </p:nvCxnSpPr>
        <p:spPr>
          <a:xfrm flipH="1">
            <a:off x="1096862" y="3117550"/>
            <a:ext cx="298900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217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0B3C5D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4103</TotalTime>
  <Words>551</Words>
  <Application>Microsoft Office PowerPoint</Application>
  <PresentationFormat>Custom</PresentationFormat>
  <Paragraphs>93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Nabilah Kafi</dc:creator>
  <cp:lastModifiedBy>Kabiru Yusuf</cp:lastModifiedBy>
  <cp:revision>8</cp:revision>
  <dcterms:created xsi:type="dcterms:W3CDTF">2025-06-25T23:04:45Z</dcterms:created>
  <dcterms:modified xsi:type="dcterms:W3CDTF">2026-10-08T20:47:49Z</dcterms:modified>
</cp:coreProperties>
</file>